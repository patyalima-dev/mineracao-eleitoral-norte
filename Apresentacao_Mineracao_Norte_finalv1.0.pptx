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rts/chart9.xml" ContentType="application/vnd.openxmlformats-officedocument.drawingml.chart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40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21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BBBB90-43C1-48BC-97A2-710CBD1F8784}" v="207" dt="2026-09-28T20:00:23.9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41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Candidatos</c:v>
                </c:pt>
              </c:strCache>
            </c:strRef>
          </c:tx>
          <c:spPr>
            <a:solidFill>
              <a:srgbClr val="2E7D5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7251F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Pará</c:v>
                </c:pt>
                <c:pt idx="1">
                  <c:v>Amazonas</c:v>
                </c:pt>
                <c:pt idx="2">
                  <c:v>Rondônia</c:v>
                </c:pt>
                <c:pt idx="3">
                  <c:v>Roraima</c:v>
                </c:pt>
                <c:pt idx="4">
                  <c:v>Acre</c:v>
                </c:pt>
                <c:pt idx="5">
                  <c:v>Tocantins</c:v>
                </c:pt>
                <c:pt idx="6">
                  <c:v>Amapá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262</c:v>
                </c:pt>
                <c:pt idx="1">
                  <c:v>137</c:v>
                </c:pt>
                <c:pt idx="2">
                  <c:v>132</c:v>
                </c:pt>
                <c:pt idx="3">
                  <c:v>105</c:v>
                </c:pt>
                <c:pt idx="4">
                  <c:v>102</c:v>
                </c:pt>
                <c:pt idx="5">
                  <c:v>98</c:v>
                </c:pt>
                <c:pt idx="6">
                  <c:v>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28-4DE0-B42F-936AFFCF380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7251F"/>
                </a:solidFill>
                <a:latin typeface="Calibri"/>
              </a:defRPr>
            </a:pPr>
            <a:endParaRPr lang="pt-B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Candidatos</c:v>
                </c:pt>
              </c:strCache>
            </c:strRef>
          </c:tx>
          <c:spPr>
            <a:solidFill>
              <a:srgbClr val="2E7D5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7251F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Sheet1!$A$2:$A$15</c:f>
              <c:strCache>
                <c:ptCount val="14"/>
                <c:pt idx="0">
                  <c:v>21–24</c:v>
                </c:pt>
                <c:pt idx="1">
                  <c:v>25–29</c:v>
                </c:pt>
                <c:pt idx="2">
                  <c:v>30–34</c:v>
                </c:pt>
                <c:pt idx="3">
                  <c:v>35–39</c:v>
                </c:pt>
                <c:pt idx="4">
                  <c:v>40–44</c:v>
                </c:pt>
                <c:pt idx="5">
                  <c:v>45–49</c:v>
                </c:pt>
                <c:pt idx="6">
                  <c:v>50–54</c:v>
                </c:pt>
                <c:pt idx="7">
                  <c:v>55–59</c:v>
                </c:pt>
                <c:pt idx="8">
                  <c:v>60–64</c:v>
                </c:pt>
                <c:pt idx="9">
                  <c:v>65–69</c:v>
                </c:pt>
                <c:pt idx="10">
                  <c:v>70–74</c:v>
                </c:pt>
                <c:pt idx="11">
                  <c:v>75–79</c:v>
                </c:pt>
                <c:pt idx="12">
                  <c:v>80–84</c:v>
                </c:pt>
                <c:pt idx="13">
                  <c:v>85–89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24</c:v>
                </c:pt>
                <c:pt idx="1">
                  <c:v>44</c:v>
                </c:pt>
                <c:pt idx="2">
                  <c:v>63</c:v>
                </c:pt>
                <c:pt idx="3">
                  <c:v>87</c:v>
                </c:pt>
                <c:pt idx="4">
                  <c:v>146</c:v>
                </c:pt>
                <c:pt idx="5">
                  <c:v>164</c:v>
                </c:pt>
                <c:pt idx="6">
                  <c:v>155</c:v>
                </c:pt>
                <c:pt idx="7">
                  <c:v>94</c:v>
                </c:pt>
                <c:pt idx="8">
                  <c:v>72</c:v>
                </c:pt>
                <c:pt idx="9">
                  <c:v>44</c:v>
                </c:pt>
                <c:pt idx="10">
                  <c:v>21</c:v>
                </c:pt>
                <c:pt idx="11">
                  <c:v>9</c:v>
                </c:pt>
                <c:pt idx="12">
                  <c:v>1</c:v>
                </c:pt>
                <c:pt idx="1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70-4BA9-B053-1F674656FCC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FDA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6B65"/>
                </a:solidFill>
                <a:latin typeface="Calibri"/>
              </a:defRPr>
            </a:pPr>
            <a:endParaRPr lang="pt-B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Candidatos</c:v>
                </c:pt>
              </c:strCache>
            </c:strRef>
          </c:tx>
          <c:spPr>
            <a:solidFill>
              <a:srgbClr val="2E7D5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7251F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4</c:v>
                </c:pt>
                <c:pt idx="2">
                  <c:v>8</c:v>
                </c:pt>
                <c:pt idx="3">
                  <c:v>9</c:v>
                </c:pt>
                <c:pt idx="4">
                  <c:v>11</c:v>
                </c:pt>
                <c:pt idx="5">
                  <c:v>13</c:v>
                </c:pt>
                <c:pt idx="6">
                  <c:v>16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</c:v>
                </c:pt>
                <c:pt idx="1">
                  <c:v>28</c:v>
                </c:pt>
                <c:pt idx="2">
                  <c:v>25</c:v>
                </c:pt>
                <c:pt idx="3">
                  <c:v>27</c:v>
                </c:pt>
                <c:pt idx="4">
                  <c:v>202</c:v>
                </c:pt>
                <c:pt idx="5">
                  <c:v>92</c:v>
                </c:pt>
                <c:pt idx="6">
                  <c:v>544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132-479A-8BED-802B91EA361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FDA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B65"/>
                </a:solidFill>
                <a:latin typeface="Calibri"/>
              </a:defRPr>
            </a:pPr>
            <a:endParaRPr lang="pt-B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1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Candidatos</c:v>
                </c:pt>
              </c:strCache>
            </c:strRef>
          </c:tx>
          <c:spPr>
            <a:solidFill>
              <a:schemeClr val="accent3">
                <a:lumMod val="5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tx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D45-4F49-900F-B24711051B59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3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D45-4F49-900F-B24711051B59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7D45-4F49-900F-B24711051B59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3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7D45-4F49-900F-B24711051B59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3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7D45-4F49-900F-B24711051B59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3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7D45-4F49-900F-B24711051B59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3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7D45-4F49-900F-B24711051B59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3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7D45-4F49-900F-B24711051B59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7D45-4F49-900F-B24711051B5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rgbClr val="17251F"/>
                    </a:solidFill>
                    <a:latin typeface="Calibri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Zero</c:v>
                </c:pt>
                <c:pt idx="1">
                  <c:v>até 50 mil</c:v>
                </c:pt>
                <c:pt idx="2">
                  <c:v>50–100 mil</c:v>
                </c:pt>
                <c:pt idx="3">
                  <c:v>100–250 mil</c:v>
                </c:pt>
                <c:pt idx="4">
                  <c:v>250–500 mil</c:v>
                </c:pt>
                <c:pt idx="5">
                  <c:v>500 mil–1 mi</c:v>
                </c:pt>
                <c:pt idx="6">
                  <c:v>1–2,5 mi</c:v>
                </c:pt>
                <c:pt idx="7">
                  <c:v>2,5–5 mi</c:v>
                </c:pt>
                <c:pt idx="8">
                  <c:v>acima de 5 mi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298</c:v>
                </c:pt>
                <c:pt idx="1">
                  <c:v>99</c:v>
                </c:pt>
                <c:pt idx="2">
                  <c:v>44</c:v>
                </c:pt>
                <c:pt idx="3">
                  <c:v>87</c:v>
                </c:pt>
                <c:pt idx="4">
                  <c:v>101</c:v>
                </c:pt>
                <c:pt idx="5">
                  <c:v>105</c:v>
                </c:pt>
                <c:pt idx="6">
                  <c:v>111</c:v>
                </c:pt>
                <c:pt idx="7">
                  <c:v>43</c:v>
                </c:pt>
                <c:pt idx="8">
                  <c:v>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7D45-4F49-900F-B24711051B5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12700" cap="flat" cmpd="sng" algn="ctr">
            <a:solidFill>
              <a:srgbClr val="D6DFDA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5E6B65"/>
                </a:solidFill>
                <a:latin typeface="Calibri"/>
                <a:ea typeface="+mn-ea"/>
                <a:cs typeface="+mn-cs"/>
              </a:defRPr>
            </a:pPr>
            <a:endParaRPr lang="pt-B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Candidatos</c:v>
                </c:pt>
              </c:strCache>
            </c:strRef>
          </c:tx>
          <c:spPr>
            <a:solidFill>
              <a:srgbClr val="98A39E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tx1">
                  <a:lumMod val="75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FD4-40A8-83CA-1547B471C0AF}"/>
              </c:ext>
            </c:extLst>
          </c:dPt>
          <c:dPt>
            <c:idx val="1"/>
            <c:invertIfNegative val="0"/>
            <c:bubble3D val="0"/>
            <c:spPr>
              <a:solidFill>
                <a:srgbClr val="1659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FD4-40A8-83CA-1547B471C0AF}"/>
              </c:ext>
            </c:extLst>
          </c:dPt>
          <c:dPt>
            <c:idx val="2"/>
            <c:invertIfNegative val="0"/>
            <c:bubble3D val="0"/>
            <c:spPr>
              <a:solidFill>
                <a:srgbClr val="1659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FD4-40A8-83CA-1547B471C0AF}"/>
              </c:ext>
            </c:extLst>
          </c:dPt>
          <c:dPt>
            <c:idx val="3"/>
            <c:invertIfNegative val="0"/>
            <c:bubble3D val="0"/>
            <c:spPr>
              <a:solidFill>
                <a:srgbClr val="1659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FD4-40A8-83CA-1547B471C0AF}"/>
              </c:ext>
            </c:extLst>
          </c:dPt>
          <c:dPt>
            <c:idx val="4"/>
            <c:invertIfNegative val="0"/>
            <c:bubble3D val="0"/>
            <c:spPr>
              <a:solidFill>
                <a:srgbClr val="1659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FD4-40A8-83CA-1547B471C0AF}"/>
              </c:ext>
            </c:extLst>
          </c:dPt>
          <c:dPt>
            <c:idx val="5"/>
            <c:invertIfNegative val="0"/>
            <c:bubble3D val="0"/>
            <c:spPr>
              <a:solidFill>
                <a:srgbClr val="1659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FD4-40A8-83CA-1547B471C0AF}"/>
              </c:ext>
            </c:extLst>
          </c:dPt>
          <c:dPt>
            <c:idx val="6"/>
            <c:invertIfNegative val="0"/>
            <c:bubble3D val="0"/>
            <c:spPr>
              <a:solidFill>
                <a:srgbClr val="1659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8FD4-40A8-83CA-1547B471C0AF}"/>
              </c:ext>
            </c:extLst>
          </c:dPt>
          <c:dPt>
            <c:idx val="7"/>
            <c:invertIfNegative val="0"/>
            <c:bubble3D val="0"/>
            <c:spPr>
              <a:solidFill>
                <a:srgbClr val="1659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8FD4-40A8-83CA-1547B471C0AF}"/>
              </c:ext>
            </c:extLst>
          </c:dPt>
          <c:dPt>
            <c:idx val="8"/>
            <c:invertIfNegative val="0"/>
            <c:bubble3D val="0"/>
            <c:spPr>
              <a:solidFill>
                <a:srgbClr val="1659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8FD4-40A8-83CA-1547B471C0A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7251F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Zero</c:v>
                </c:pt>
                <c:pt idx="1">
                  <c:v>até 10 mil</c:v>
                </c:pt>
                <c:pt idx="2">
                  <c:v>10–50 mil</c:v>
                </c:pt>
                <c:pt idx="3">
                  <c:v>50–100 mil</c:v>
                </c:pt>
                <c:pt idx="4">
                  <c:v>100–250 mil</c:v>
                </c:pt>
                <c:pt idx="5">
                  <c:v>250–500 mil</c:v>
                </c:pt>
                <c:pt idx="6">
                  <c:v>500 mil–1 mi</c:v>
                </c:pt>
                <c:pt idx="7">
                  <c:v>1–2 mi</c:v>
                </c:pt>
                <c:pt idx="8">
                  <c:v>acima de 2 mi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268</c:v>
                </c:pt>
                <c:pt idx="1">
                  <c:v>82</c:v>
                </c:pt>
                <c:pt idx="2">
                  <c:v>87</c:v>
                </c:pt>
                <c:pt idx="3">
                  <c:v>75</c:v>
                </c:pt>
                <c:pt idx="4">
                  <c:v>142</c:v>
                </c:pt>
                <c:pt idx="5">
                  <c:v>115</c:v>
                </c:pt>
                <c:pt idx="6">
                  <c:v>91</c:v>
                </c:pt>
                <c:pt idx="7">
                  <c:v>56</c:v>
                </c:pt>
                <c:pt idx="8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8FD4-40A8-83CA-1547B471C0A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FDA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6B65"/>
                </a:solidFill>
                <a:latin typeface="Calibri"/>
              </a:defRPr>
            </a:pPr>
            <a:endParaRPr lang="pt-B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2E7D5B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7251F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Masculino</c:v>
                </c:pt>
                <c:pt idx="1">
                  <c:v>Feminino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60.5</c:v>
                </c:pt>
                <c:pt idx="1">
                  <c:v>39.5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D5-40EC-9486-7FCFD3F041A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7251F"/>
                </a:solidFill>
                <a:latin typeface="Calibri"/>
              </a:defRPr>
            </a:pPr>
            <a:endParaRPr lang="pt-B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2E7D5B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7251F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Parda</c:v>
                </c:pt>
                <c:pt idx="1">
                  <c:v>Branca</c:v>
                </c:pt>
                <c:pt idx="2">
                  <c:v>Preta</c:v>
                </c:pt>
                <c:pt idx="3">
                  <c:v>Indígena</c:v>
                </c:pt>
                <c:pt idx="4">
                  <c:v>Amarela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52.9</c:v>
                </c:pt>
                <c:pt idx="1">
                  <c:v>32.6</c:v>
                </c:pt>
                <c:pt idx="2">
                  <c:v>11.1</c:v>
                </c:pt>
                <c:pt idx="3">
                  <c:v>2.8</c:v>
                </c:pt>
                <c:pt idx="4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64-4A72-AC71-D646AB319D1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7251F"/>
                </a:solidFill>
                <a:latin typeface="Calibri"/>
              </a:defRPr>
            </a:pPr>
            <a:endParaRPr lang="pt-B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2E7D5B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7251F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Empresário e comércio</c:v>
                </c:pt>
                <c:pt idx="1">
                  <c:v>Outros (não especificado)</c:v>
                </c:pt>
                <c:pt idx="2">
                  <c:v>Servidor público</c:v>
                </c:pt>
                <c:pt idx="3">
                  <c:v>Saúde</c:v>
                </c:pt>
                <c:pt idx="4">
                  <c:v>Direito</c:v>
                </c:pt>
                <c:pt idx="5">
                  <c:v>Outras de nível superior</c:v>
                </c:pt>
                <c:pt idx="6">
                  <c:v>Político com mandato</c:v>
                </c:pt>
                <c:pt idx="7">
                  <c:v>Educação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15.4</c:v>
                </c:pt>
                <c:pt idx="1">
                  <c:v>11.9</c:v>
                </c:pt>
                <c:pt idx="2">
                  <c:v>10.8</c:v>
                </c:pt>
                <c:pt idx="3">
                  <c:v>8.4</c:v>
                </c:pt>
                <c:pt idx="4">
                  <c:v>7.8</c:v>
                </c:pt>
                <c:pt idx="5">
                  <c:v>7.1</c:v>
                </c:pt>
                <c:pt idx="6">
                  <c:v>6.6</c:v>
                </c:pt>
                <c:pt idx="7">
                  <c:v>6.1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72-434F-8D12-0FDA531BC88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7251F"/>
                </a:solidFill>
                <a:latin typeface="Calibri"/>
              </a:defRPr>
            </a:pPr>
            <a:endParaRPr lang="pt-B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Sinalizados</c:v>
                </c:pt>
              </c:strCache>
            </c:strRef>
          </c:tx>
          <c:spPr>
            <a:solidFill>
              <a:srgbClr val="2E7D5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7A1-4DA8-B533-42820D4B177D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7A1-4DA8-B533-42820D4B177D}"/>
              </c:ext>
            </c:extLst>
          </c:dPt>
          <c:dPt>
            <c:idx val="2"/>
            <c:invertIfNegative val="0"/>
            <c:bubble3D val="0"/>
            <c:spPr>
              <a:solidFill>
                <a:srgbClr val="B453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7A1-4DA8-B533-42820D4B177D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87A1-4DA8-B533-42820D4B177D}"/>
              </c:ext>
            </c:extLst>
          </c:dPt>
          <c:dPt>
            <c:idx val="4"/>
            <c:invertIfNegative val="0"/>
            <c:bubble3D val="0"/>
            <c:spPr>
              <a:solidFill>
                <a:srgbClr val="98A39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7A1-4DA8-B533-42820D4B177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7251F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2%</c:v>
                </c:pt>
                <c:pt idx="1">
                  <c:v>3%</c:v>
                </c:pt>
                <c:pt idx="2">
                  <c:v>5%</c:v>
                </c:pt>
                <c:pt idx="3">
                  <c:v>8%</c:v>
                </c:pt>
                <c:pt idx="4">
                  <c:v>auto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</c:v>
                </c:pt>
                <c:pt idx="1">
                  <c:v>28</c:v>
                </c:pt>
                <c:pt idx="2">
                  <c:v>47</c:v>
                </c:pt>
                <c:pt idx="3">
                  <c:v>74</c:v>
                </c:pt>
                <c:pt idx="4">
                  <c:v>296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7A1-4DA8-B533-42820D4B177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FD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251F"/>
                </a:solidFill>
                <a:latin typeface="Calibri"/>
              </a:defRPr>
            </a:pPr>
            <a:endParaRPr lang="pt-B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4">
  <a:schemeClr val="accent4"/>
</cs:colorStyle>
</file>

<file path=ppt/charts/style1.xml><?xml version="1.0" encoding="utf-8"?>
<cs:chartStyle xmlns:cs="http://schemas.microsoft.com/office/drawing/2012/chartStyle" xmlns:a="http://schemas.openxmlformats.org/drawingml/2006/main" id="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0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4709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 noite. Somos o grupo do recorte Deputado Federal da Região Norte — 925 candidatos dos 7 estados. Vamos contar a história da análise: dos dados à clusterização, às regras de associação e às anomalias. A nuvem à direita já é o resultado: cada ponto é um candidato, posicionado pela idade e pelo patrimônio, e as cores são os cinco clusters que vamos construir.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apresentação segue a ordem da análise. A descritiva orienta a preparação dos dados; o Bisecting K-Means gera os clusters; a caracterização dá nome a eles; as regras de associação validam os nomes; e o Isolation Forest procura quem foge do padrão — na base toda e dentro de cada cluster.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objetivo foi replicar o pipeline do professor no nosso recorte. A pergunta de negócio é a mesma do notebook de clusterização e guia todo o trabalho. O Pará sozinho concentra 28% dos candidatos.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bases do TSE, unidas pela chave SQ_CANDIDATO. Do cadastro saem idade, escolaridade e o perfil; dos bens, o patrimônio total; da prestação de contas, as despesas contratadas — as pagas não trazem SQ_CANDIDATO. Do Brasil filtramos Deputado Federal nos 7 estados do Norte (927) e excluímos 2 registros com idade abaixo de 21 anos.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idade é bem comportada, quase simétrica. O tempo de estudo é concentrado no topo: a maioria tem superior completo. Isso antecipa algo importante: baixa escolaridade é rara nessa população — e vai aparecer depois como a principal fonte de anomalias.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variáveis financeiras são o oposto da idade: muitos zeros e uma cauda longa; a média é várias vezes a mediana. Por isso usamos log1p, que mantém o zero e comprime os valores altos. A despesa entra no desafio como 4ª variável.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é a régua: o perfil médio dos candidatos. Na caracterização, comparamos cada cluster com esses percentuais.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Começamos pelo K-Means, como no notebook do professor, em duas versões. Na primeira, a escolaridade entrou como o código bruto do TSE — que é ordinal. Na segunda, convertemos para anos de estudo e acrescentamos métricas para escolher k. A silhueta quase não muda, mas os grupos mudam de tamanho: a forma de medir a variável importa.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Avaliamos k de 2 a 19 com quatro métricas. O cotovelo desce suave, sem um V. Silhueta, Davies-Bouldin e Calinski-Harabasz apontam k = 2 e depois ficam quase planas. Ou seja: a estatística sozinha favoreceria k pequeno. A tabela mostra também a silhueta do Bisecting, que usamos como resultado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Bisecting K-Means é hierárquico e divisivo: começa com todo mundo e vai dividindo em dois o grupo mais heterogêneo — o de maior inércia média. Implementamos à mão para guardar o histórico. A árvore à direita é a nossa, até k = 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estão os resultados para cada k, nos radares do notebook. Em k = 2 o algoritmo separa quem declarou patrimônio de quem não declarou. Em k = 3 e 4, a escolaridade divide cada um desses blocos. Em k = 5, os 158 de baixa escolaridade sem bens se dividem pela idade: jovens de um lado, mais velhos e com menos estudo do outro.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gráfico da esquerda é o critério de parada do Bisecting: o tamanho do grupo escolhido para dividir em cada passo. Até k = 6, ele divide grupos grandes; de k = 7 a 9, grupos pequenos; em k = 10 volta a partir os Prósperos. A tabela mostra os números exatos.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está a defesa do K. A silhueta favorece k = 2, mas essa divisão só separa com e sem patrimônio. Com 5, dividimos o bloco com patrimônio pela escolaridade e o bloco sem patrimônio em três realidades distintas. Além disso, a silhueta do Bisecting tem um pico local em 5 e o próprio critério do algoritmo mostra que, depois de 5, as divisões refinam grupos existentes ou fatiam grupos pequenos. É uma escolha técnica e de negócio, e nós a assumimos.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o Bisecting em k = 5, estes são os grupos. A tabela traz os números das três variáveis; os radares, o formato de cada grupo em escala 0 a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mapa de calor é o desvio de cada cluster em relação à média geral, em desvios-padrão — é o que normalmente vira o nome do cluster. O gráfico de dispersão mostra idade e patrimônio: a faixa de pontos no zero são os candidatos sem bens.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desafio trouxe o gasto de campanha como 4ª variável. O gasto acompanha o patrimônio só em parte: correlação de 0,36. Os Prósperos gastam mais, mas há gente sem bens com despesas relevantes. Com a 4ª variável, a silhueta do K-Means sobe de 0,365 para 0,419 — o eixo estrutura de campanha não é redundante. Mantivemos os clusters oficiais com três variáveis, como no notebook 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Além das variáveis numéricas, olhamos as categóricas. As barras são a composição de cada cluster. Os Promissores são o único grupo de maioria feminina; os Batalhadores são o grupo mais masculino e os Prósperos, o mais branco; nos grupos sem bens e com menos estudo há mais pretos e indígenas.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ocupação declarada confirma a leitura socioeconômica: advogados, médicos, servidores e deputados nos Prósperos; empresários e agricultores nos Batalhadores; estudantes nos Recém-chegados. Células em verde forte estão pelo menos 1,8 vez acima da média.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Partido e UF completam o retrato. Partidos maiores concentram os Prósperos; NOVO marca os Promissores e MISSÃO, os Recém-chegados. Na distribuição por estado, os Batalhadores pesam mais no Tocantins e em Rondônia.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nomes vêm da ficha técnica: Prósperos, com superior e patrimônio; Batalhadores, ensino médio e patrimônio conquistado; Promissores, com diploma e sem patrimônio; Recém-chegados, jovens começando; Desassistidos, menor escolaridade e sem patrimônio.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o Apriori, cada candidato vira uma cesta de itens. Rodamos duas cestas: a da Fase 3, com os atributos categóricos, e a do desafio, com as quatro variáveis contínuas em faixas por quartil — como pede o roteiro. Os empates reduzem o número de faixas de estudo, bens e despesas, e isso está documentado.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Primeira perspectiva: o cluster no consequente — que combinação de características leva a um perfil. A confiança é a chance de ser do cluster tendo aquelas características; o lift compara com o peso do cluster na 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Segunda perspectiva: o cluster no antecedente — dado que o candidato é do cluster X, o que costuma vir junto. À esquerda, as faixas das variáveis; à direita, um atributo cadastral da Fase 3, como partido ou estado civil.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Voltamos aos nomes e conferimos, cluster a cluster, se as regras os sustentam. Confirmam os cinco; no Desassistidos, com uma ressalva: a faixa de estudo só tem dois níveis, então as regras não separam fundamental de médio.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Isolation Forest procura diretamente quem é fácil de isolar. Estas figuras do notebook 04 usam dados fictícios para mostrar o mecanismo: os cortes aleatórios isolam rápido os pontos das bordas e demoram nos grupos densos.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contaminação é o parâmetro mais subjetivo do Isolation Forest. Varremos de 2 a 8% e o modo automático, que marca um terço da base. Fixamos 5%: 47 candidatos, uma lista que dá para examinar caso a caso, e estável entre sementes.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visão global, os atípicos são quase todos de baixa escolaridade — rara numa base de maioria diplomada —, sobretudo combinada com idade extrema ou patrimônio alto. Atípico quer dizer raro nos dados, não irregular.
Numa base em que 59% têm diploma, quem só lê e escreve ou tem fundamental incompleto é isolado em poucos cortes — sobretudo com idade extrema ou patrimônio alto. Atípico não quer dizer irregular: quer dizer raro.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Dentro de cada cluster, padronizamos as variáveis só com os integrantes do grupo. Aí os atípicos mudam: é a Próspera com superior incompleto e 10 milhões, o Promissor que declarou bens, o Desassistido de 28 anos. O cruzamento mostra que as duas visões se complementam.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Respondemos diretamente às perguntas do roteiro, retomando os achados principais.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Fechamento: o que confirmou o esperado, o que surpreendeu e as limitações. A principal contribuição é a segmentação interpretável, validada pelas regras, feita só com dados abertos.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Agradecer e abrir para perguntas. Qualquer integrante pode responder sobre qualquer etapa.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apoio para as perguntas. Perguntas prováveis e respostas curtas:
• Por que 5 clusters, se a silhueta favorece k = 2? Porque k = 2 só separa com e sem patrimônio. Com 5 temos perfis interpretáveis; a silhueta do Bisecting tem pico local em 5 (0,414 contra 0,407 em k = 4 e 0,385 em k = 6).
• Por que Bisecting e não K-Means puro? É o método pedido; é hierárquico e mostra a ordem das divisões (a árvore), o que ajuda a decidir onde parar; com k = 5, tem silhueta maior que o K-Means (0,414 × 0,365).
• Por que inércia média? A soma cresce com o tamanho do grupo e faria o algoritmo dividir quase sempre o maior grupo.
• Por que MinMax? As variáveis têm escalas muito diferentes (idade 21–85, estudo 1–16, bens em log 0–18); o MinMax põe todas entre 0 e 1.
• Por que log? Bens e despesas são muito assimétricos; o log1p comprime a cauda e mantém o zero como zero.
• Por que o IQR não removeu ninguém? Os 32% com patrimônio zero puxam o 1º quartil para zero e alargam o intervalo.
• A despesa entrou na clusterização? Nos clusters oficiais, não: o Bisecting usa idade, estudo e bens. O desafio testou a despesa como 4ª variável no K-Means (silhueta 0,365 → 0,419) e ela entra nas faixas do Apriori.
• Suporte, confiança e lift: suporte = fração da base com todos os itens da regra; confiança = P(consequente | antecedente); lift = confiança ÷ frequência do consequente (1 = independente).
• Por que algumas variáveis têm menos de 4 faixas? Empates (muitos zeros, muitos com 16 anos de estudo): o pd.qcut funde quartis iguais.
• Por que contaminação de 5%? Varredura de 2% a 8% e "auto": o auto marca um terço da base; 5% dá 47 casos, analisáveis um a um, e é estável entre sementes.
• Por que padronizar dentro do cluster? Sem isso, só apareceria quem já é extremo na base inteira; com a padronização por grupo, a pergunta vira "isto é raro para alguém deste perfil?".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Sugestão de divisão das falas em três partes, como no roteiro do grupo; ajustem os nomes e os blocos conforme preferirem.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Figuras complementares dos notebooks, para consulta durante as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Figuras complementares dos notebooks, para consulta durante as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Figuras complementares dos notebooks, para consulta durante as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Figuras complementares dos notebooks, para consulta durante as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Figuras complementares dos notebooks, para consulta durante as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Figuras complementares dos notebooks, para consulta durante as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Figuras complementares dos notebooks, para consulta durante as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Figuras complementares dos notebooks, para consulta durante as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">
    <p:bg>
      <p:bgPr>
        <a:gradFill>
          <a:gsLst>
            <a:gs pos="0">
              <a:schemeClr val="accent3">
                <a:lumMod val="75000"/>
              </a:schemeClr>
            </a:gs>
            <a:gs pos="23000">
              <a:schemeClr val="accent5">
                <a:lumMod val="50000"/>
              </a:schemeClr>
            </a:gs>
            <a:gs pos="45000">
              <a:srgbClr val="015EA3"/>
            </a:gs>
            <a:gs pos="0">
              <a:schemeClr val="accent3">
                <a:lumMod val="75000"/>
              </a:schemeClr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156065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DF407-AAD9-4F9F-B512-267BEB339CF5}" type="datetime1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23840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020094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5476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0C9DF407-AAD9-4F9F-B512-267BEB339CF5}" type="datetime1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m 7">
            <a:extLst>
              <a:ext uri="{FF2B5EF4-FFF2-40B4-BE49-F238E27FC236}">
                <a16:creationId xmlns:a16="http://schemas.microsoft.com/office/drawing/2014/main" id="{A66A8785-55FB-C675-2AFF-BDBBDE6D6F5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9347" y="0"/>
            <a:ext cx="121533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5083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41" r:id="rId1"/>
    <p:sldLayoutId id="2147483947" r:id="rId2"/>
    <p:sldLayoutId id="2147483959" r:id="rId3"/>
    <p:sldLayoutId id="2147483968" r:id="rId4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Retângulo 939">
            <a:extLst>
              <a:ext uri="{FF2B5EF4-FFF2-40B4-BE49-F238E27FC236}">
                <a16:creationId xmlns:a16="http://schemas.microsoft.com/office/drawing/2014/main" id="{2D060AD9-5146-30C6-2805-5AE7FF8E9A70}"/>
              </a:ext>
            </a:extLst>
          </p:cNvPr>
          <p:cNvSpPr/>
          <p:nvPr/>
        </p:nvSpPr>
        <p:spPr>
          <a:xfrm>
            <a:off x="1" y="-34753"/>
            <a:ext cx="12192000" cy="960120"/>
          </a:xfrm>
          <a:prstGeom prst="rect">
            <a:avLst/>
          </a:prstGeom>
          <a:solidFill>
            <a:srgbClr val="1F21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5" name="Shape 413"/>
          <p:cNvSpPr/>
          <p:nvPr/>
        </p:nvSpPr>
        <p:spPr>
          <a:xfrm>
            <a:off x="7838165" y="856787"/>
            <a:ext cx="68580" cy="68580"/>
          </a:xfrm>
          <a:prstGeom prst="ellipse">
            <a:avLst/>
          </a:prstGeom>
          <a:solidFill>
            <a:srgbClr val="66C2A5">
              <a:alpha val="85000"/>
            </a:srgbClr>
          </a:solidFill>
          <a:ln w="12700">
            <a:solidFill>
              <a:srgbClr val="66C2A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47" name="Shape 745"/>
          <p:cNvSpPr/>
          <p:nvPr/>
        </p:nvSpPr>
        <p:spPr>
          <a:xfrm>
            <a:off x="8980430" y="828994"/>
            <a:ext cx="68580" cy="68580"/>
          </a:xfrm>
          <a:prstGeom prst="ellipse">
            <a:avLst/>
          </a:prstGeom>
          <a:solidFill>
            <a:srgbClr val="FC8D62">
              <a:alpha val="85000"/>
            </a:srgbClr>
          </a:solidFill>
          <a:ln w="12700">
            <a:solidFill>
              <a:srgbClr val="FC8D6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27" name="Text 925"/>
          <p:cNvSpPr txBox="1"/>
          <p:nvPr/>
        </p:nvSpPr>
        <p:spPr>
          <a:xfrm>
            <a:off x="4563079" y="651047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MINERAÇÃO DE DADOS ELEITORAIS 2026</a:t>
            </a:r>
            <a:endParaRPr lang="en-US" sz="1200" dirty="0"/>
          </a:p>
        </p:txBody>
      </p:sp>
      <p:sp>
        <p:nvSpPr>
          <p:cNvPr id="928" name="Text 926"/>
          <p:cNvSpPr txBox="1"/>
          <p:nvPr/>
        </p:nvSpPr>
        <p:spPr>
          <a:xfrm>
            <a:off x="182879" y="119783"/>
            <a:ext cx="11076247" cy="840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Raio-X  </a:t>
            </a:r>
            <a:r>
              <a:rPr lang="en-US" sz="4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Eleitoral</a:t>
            </a: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da </a:t>
            </a:r>
            <a:r>
              <a:rPr lang="en-US" sz="4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Região</a:t>
            </a: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Norte</a:t>
            </a:r>
            <a:endParaRPr lang="en-US" sz="4000" dirty="0"/>
          </a:p>
        </p:txBody>
      </p:sp>
      <p:sp>
        <p:nvSpPr>
          <p:cNvPr id="929" name="Text 927"/>
          <p:cNvSpPr txBox="1"/>
          <p:nvPr/>
        </p:nvSpPr>
        <p:spPr>
          <a:xfrm>
            <a:off x="4306601" y="3192594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 socioeconômicos, regras de associação e anomalias entre os 925 candidatos a Deputado Federal nas Eleições 2026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930" name="Text 928"/>
          <p:cNvSpPr txBox="1"/>
          <p:nvPr/>
        </p:nvSpPr>
        <p:spPr>
          <a:xfrm>
            <a:off x="8347164" y="5749753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Prof. Rogério Lopes · Mineração de Dados Eleitorais 2026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Pós-graduação — Faculdade de Tecnologia e Inovação Senac DF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Grupo </a:t>
            </a:r>
            <a:r>
              <a:rPr lang="pt-BR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Região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Norte: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pt-BR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:  Carlos , Patricia, Rafael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setembro de 2026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A história da análise em sete passos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443838" cy="3291840"/>
          </a:xfrm>
          <a:prstGeom prst="roundRect">
            <a:avLst>
              <a:gd name="adj" fmla="val 5066"/>
            </a:avLst>
          </a:prstGeom>
          <a:solidFill>
            <a:srgbClr val="EEF5F1"/>
          </a:solidFill>
          <a:ln w="6350">
            <a:solidFill>
              <a:srgbClr val="EEF5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713232" y="2011680"/>
            <a:ext cx="11695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676656" y="2743200"/>
            <a:ext cx="12609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 dados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3566160"/>
            <a:ext cx="11695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estamos olhando e com quais dados?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157070" y="1828800"/>
            <a:ext cx="1443838" cy="3291840"/>
          </a:xfrm>
          <a:prstGeom prst="roundRect">
            <a:avLst>
              <a:gd name="adj" fmla="val 5066"/>
            </a:avLst>
          </a:prstGeom>
          <a:solidFill>
            <a:srgbClr val="F6F9F7"/>
          </a:solidFill>
          <a:ln w="6350">
            <a:solidFill>
              <a:srgbClr val="F6F9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2321662" y="2011680"/>
            <a:ext cx="11695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2285086" y="2743200"/>
            <a:ext cx="12609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descritiva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321662" y="3566160"/>
            <a:ext cx="11695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 distribuem idade, estudo, bens e despesas?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765499" y="1828800"/>
            <a:ext cx="1443838" cy="3291840"/>
          </a:xfrm>
          <a:prstGeom prst="roundRect">
            <a:avLst>
              <a:gd name="adj" fmla="val 5066"/>
            </a:avLst>
          </a:prstGeom>
          <a:solidFill>
            <a:srgbClr val="EEF5F1"/>
          </a:solidFill>
          <a:ln w="6350">
            <a:solidFill>
              <a:srgbClr val="EEF5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3930091" y="2011680"/>
            <a:ext cx="11695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3893515" y="2743200"/>
            <a:ext cx="12609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Bisecting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930091" y="3566160"/>
            <a:ext cx="11695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Quantos perfis existem — e por que k = 5?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373929" y="1828800"/>
            <a:ext cx="1443838" cy="3291840"/>
          </a:xfrm>
          <a:prstGeom prst="roundRect">
            <a:avLst>
              <a:gd name="adj" fmla="val 5066"/>
            </a:avLst>
          </a:prstGeom>
          <a:solidFill>
            <a:srgbClr val="F6F9F7"/>
          </a:solidFill>
          <a:ln w="6350">
            <a:solidFill>
              <a:srgbClr val="F6F9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5538521" y="2011680"/>
            <a:ext cx="11695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5501945" y="2743200"/>
            <a:ext cx="12609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Caracterização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538521" y="3566160"/>
            <a:ext cx="11695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é cada perfil e que nome ele recebe?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982358" y="1828800"/>
            <a:ext cx="1443838" cy="3291840"/>
          </a:xfrm>
          <a:prstGeom prst="roundRect">
            <a:avLst>
              <a:gd name="adj" fmla="val 5066"/>
            </a:avLst>
          </a:prstGeom>
          <a:solidFill>
            <a:srgbClr val="EEF5F1"/>
          </a:solidFill>
          <a:ln w="6350">
            <a:solidFill>
              <a:srgbClr val="EEF5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 txBox="1"/>
          <p:nvPr/>
        </p:nvSpPr>
        <p:spPr>
          <a:xfrm>
            <a:off x="7146950" y="2011680"/>
            <a:ext cx="11695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200" dirty="0"/>
          </a:p>
        </p:txBody>
      </p:sp>
      <p:sp>
        <p:nvSpPr>
          <p:cNvPr id="23" name="Text 21"/>
          <p:cNvSpPr txBox="1"/>
          <p:nvPr/>
        </p:nvSpPr>
        <p:spPr>
          <a:xfrm>
            <a:off x="7110374" y="2743200"/>
            <a:ext cx="12609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(Apriori)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146950" y="3566160"/>
            <a:ext cx="11695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regras confirmam os perfis e os nomes?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590788" y="1828800"/>
            <a:ext cx="1443838" cy="3291840"/>
          </a:xfrm>
          <a:prstGeom prst="roundRect">
            <a:avLst>
              <a:gd name="adj" fmla="val 5066"/>
            </a:avLst>
          </a:prstGeom>
          <a:solidFill>
            <a:srgbClr val="F6F9F7"/>
          </a:solidFill>
          <a:ln w="6350">
            <a:solidFill>
              <a:srgbClr val="F6F9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 txBox="1"/>
          <p:nvPr/>
        </p:nvSpPr>
        <p:spPr>
          <a:xfrm>
            <a:off x="8755380" y="2011680"/>
            <a:ext cx="11695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200" dirty="0"/>
          </a:p>
        </p:txBody>
      </p:sp>
      <p:sp>
        <p:nvSpPr>
          <p:cNvPr id="27" name="Text 25"/>
          <p:cNvSpPr txBox="1"/>
          <p:nvPr/>
        </p:nvSpPr>
        <p:spPr>
          <a:xfrm>
            <a:off x="8718804" y="2743200"/>
            <a:ext cx="12609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755380" y="3566160"/>
            <a:ext cx="11695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foge do padrão da base e do próprio grupo?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0199218" y="1828800"/>
            <a:ext cx="1443838" cy="3291840"/>
          </a:xfrm>
          <a:prstGeom prst="roundRect">
            <a:avLst>
              <a:gd name="adj" fmla="val 5066"/>
            </a:avLst>
          </a:prstGeom>
          <a:solidFill>
            <a:srgbClr val="EEF5F1"/>
          </a:solidFill>
          <a:ln w="6350">
            <a:solidFill>
              <a:srgbClr val="EEF5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 txBox="1"/>
          <p:nvPr/>
        </p:nvSpPr>
        <p:spPr>
          <a:xfrm>
            <a:off x="10363810" y="2011680"/>
            <a:ext cx="11695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3200" dirty="0"/>
          </a:p>
        </p:txBody>
      </p:sp>
      <p:sp>
        <p:nvSpPr>
          <p:cNvPr id="31" name="Text 29"/>
          <p:cNvSpPr txBox="1"/>
          <p:nvPr/>
        </p:nvSpPr>
        <p:spPr>
          <a:xfrm>
            <a:off x="10327234" y="2743200"/>
            <a:ext cx="12609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0363810" y="3566160"/>
            <a:ext cx="11695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os dados nos ensinaram?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440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etapa usa o resultado da anterior: os clusters viram itens das regras de associação e a referência para as anomalias dentro de cada grupo.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m 31">
            <a:extLst>
              <a:ext uri="{FF2B5EF4-FFF2-40B4-BE49-F238E27FC236}">
                <a16:creationId xmlns:a16="http://schemas.microsoft.com/office/drawing/2014/main" id="{62B89749-7EE0-DD00-8073-9972EE2851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472226"/>
            <a:ext cx="5222240" cy="2946862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15000"/>
              </a:srgbClr>
            </a:outerShdw>
          </a:effectLst>
        </p:spPr>
      </p:pic>
      <p:sp>
        <p:nvSpPr>
          <p:cNvPr id="2" name="Text 0"/>
          <p:cNvSpPr txBox="1"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79272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Objetivo: encontrar perfis de candidatos com dados abertos do TSE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6487668"/>
            <a:ext cx="91440" cy="91440"/>
          </a:xfrm>
          <a:prstGeom prst="ellipse">
            <a:avLst/>
          </a:prstGeom>
          <a:solidFill>
            <a:srgbClr val="2E7D5B"/>
          </a:solidFill>
          <a:ln w="63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76656" y="641908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591056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1719072" y="6419088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Descritiva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70632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2898648" y="6419088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de 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087368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4215384" y="641908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29784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5257800" y="6419088"/>
            <a:ext cx="612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6163056" y="6419088"/>
            <a:ext cx="818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Anomalias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146036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7274052" y="6419088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185855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79272" y="1508760"/>
            <a:ext cx="5760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Replicado</a:t>
            </a: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pipeline do professor 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(Brasil/Governador) no nosso recorte: Deputado Federal nos 7 estados do Norte — </a:t>
            </a:r>
            <a:b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925 candidatos.</a:t>
            </a:r>
            <a:endParaRPr lang="en-US" sz="160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Agrupar 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candidatos em perfis socioeconômicos com o Bisecting K-Means e </a:t>
            </a: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um nome 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cada perfil.</a:t>
            </a:r>
            <a:endParaRPr lang="en-US" sz="160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perfis com regras de associação (Apriori) e </a:t>
            </a: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apontar os atípicos 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Isolation Forest.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6949440" y="14173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5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925</a:t>
            </a:r>
            <a:endParaRPr lang="en-US" sz="54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2322576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candidatos a Deputado Federal nos 7 estados do Norte</a:t>
            </a:r>
            <a:endParaRPr lang="en-US" sz="1200" dirty="0"/>
          </a:p>
        </p:txBody>
      </p:sp>
      <p:graphicFrame>
        <p:nvGraphicFramePr>
          <p:cNvPr id="24" name="Chart 0"/>
          <p:cNvGraphicFramePr/>
          <p:nvPr/>
        </p:nvGraphicFramePr>
        <p:xfrm>
          <a:off x="6812280" y="2971800"/>
          <a:ext cx="48463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DADOS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bases abertas do TSE, unidas pelo código do candidato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6487668"/>
            <a:ext cx="91440" cy="91440"/>
          </a:xfrm>
          <a:prstGeom prst="ellipse">
            <a:avLst/>
          </a:prstGeom>
          <a:solidFill>
            <a:srgbClr val="2E7D5B"/>
          </a:solidFill>
          <a:ln w="63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76656" y="641908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591056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1719072" y="6419088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Descritiva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70632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2898648" y="6419088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de 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087368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4215384" y="641908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29784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5257800" y="6419088"/>
            <a:ext cx="612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6163056" y="6419088"/>
            <a:ext cx="818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Anomalias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146036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7274052" y="6419088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185855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1508760"/>
            <a:ext cx="3576218" cy="2240280"/>
          </a:xfrm>
          <a:prstGeom prst="roundRect">
            <a:avLst>
              <a:gd name="adj" fmla="val 3265"/>
            </a:avLst>
          </a:prstGeom>
          <a:solidFill>
            <a:srgbClr val="EEF5F1"/>
          </a:solidFill>
          <a:ln w="6350">
            <a:solidFill>
              <a:srgbClr val="EEF5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 txBox="1"/>
          <p:nvPr/>
        </p:nvSpPr>
        <p:spPr>
          <a:xfrm>
            <a:off x="749808" y="1673352"/>
            <a:ext cx="32104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consulta_cand_2026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" y="2057400"/>
            <a:ext cx="32104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das candidaturas: cargo, UF, partido, nascimento, sexo, cor/raça, grau de instrução, estado civil e ocupação.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" y="310896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  </a:t>
            </a:r>
            <a:r>
              <a:rPr lang="en-US" sz="13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idade, anos de estudo e perfil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307738" y="1508760"/>
            <a:ext cx="3576218" cy="2240280"/>
          </a:xfrm>
          <a:prstGeom prst="roundRect">
            <a:avLst>
              <a:gd name="adj" fmla="val 3265"/>
            </a:avLst>
          </a:prstGeom>
          <a:solidFill>
            <a:srgbClr val="EEF5F1"/>
          </a:solidFill>
          <a:ln w="6350">
            <a:solidFill>
              <a:srgbClr val="EEF5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 txBox="1"/>
          <p:nvPr/>
        </p:nvSpPr>
        <p:spPr>
          <a:xfrm>
            <a:off x="4508906" y="1673352"/>
            <a:ext cx="32104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bem_candidato_2026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08906" y="2057400"/>
            <a:ext cx="32104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linha por bem declarado (imóveis, veículos, aplicações, dinheiro…), com o valor em reais.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08906" y="310896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  </a:t>
            </a:r>
            <a:r>
              <a:rPr lang="en-US" sz="13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 bens (log1p)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066837" y="1508760"/>
            <a:ext cx="3576218" cy="2240280"/>
          </a:xfrm>
          <a:prstGeom prst="roundRect">
            <a:avLst>
              <a:gd name="adj" fmla="val 3265"/>
            </a:avLst>
          </a:prstGeom>
          <a:solidFill>
            <a:srgbClr val="EEF5F1"/>
          </a:solidFill>
          <a:ln w="6350">
            <a:solidFill>
              <a:srgbClr val="EEF5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 txBox="1"/>
          <p:nvPr/>
        </p:nvSpPr>
        <p:spPr>
          <a:xfrm>
            <a:off x="8268005" y="1673352"/>
            <a:ext cx="32104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prestacao_de_contas_2026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268005" y="2057400"/>
            <a:ext cx="32104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Despesas contratadas pelas campanhas, declaradas até o extrato de 20/09/2026: 98.192 lançamentos nos 7 estados (todos os cargos).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268005" y="310896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  </a:t>
            </a:r>
            <a:r>
              <a:rPr lang="en-US" sz="13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 despesas (log1p)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4069080"/>
            <a:ext cx="23621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7.707</a:t>
            </a:r>
            <a:endParaRPr lang="en-US" sz="26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4636008"/>
            <a:ext cx="23621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candidaturas a Deputado Federal no Brasil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2956484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3459404" y="4069080"/>
            <a:ext cx="23621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927</a:t>
            </a:r>
            <a:endParaRPr lang="en-US" sz="2600" dirty="0"/>
          </a:p>
        </p:txBody>
      </p:sp>
      <p:sp>
        <p:nvSpPr>
          <p:cNvPr id="35" name="Text 33"/>
          <p:cNvSpPr txBox="1"/>
          <p:nvPr/>
        </p:nvSpPr>
        <p:spPr>
          <a:xfrm>
            <a:off x="3459404" y="4636008"/>
            <a:ext cx="23621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7 estados da Região Norte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867248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6370168" y="4069080"/>
            <a:ext cx="23621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925</a:t>
            </a:r>
            <a:endParaRPr lang="en-US" sz="2600" dirty="0"/>
          </a:p>
        </p:txBody>
      </p:sp>
      <p:sp>
        <p:nvSpPr>
          <p:cNvPr id="38" name="Text 36"/>
          <p:cNvSpPr txBox="1"/>
          <p:nvPr/>
        </p:nvSpPr>
        <p:spPr>
          <a:xfrm>
            <a:off x="6370168" y="4636008"/>
            <a:ext cx="23621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excluir 2 idades inválidas (abaixo de 21 anos)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8778011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40" name="Text 38"/>
          <p:cNvSpPr txBox="1"/>
          <p:nvPr/>
        </p:nvSpPr>
        <p:spPr>
          <a:xfrm>
            <a:off x="9280931" y="4069080"/>
            <a:ext cx="23621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+ 1</a:t>
            </a:r>
            <a:endParaRPr lang="en-US" sz="2600" dirty="0"/>
          </a:p>
        </p:txBody>
      </p:sp>
      <p:sp>
        <p:nvSpPr>
          <p:cNvPr id="41" name="Text 39"/>
          <p:cNvSpPr txBox="1"/>
          <p:nvPr/>
        </p:nvSpPr>
        <p:spPr>
          <a:xfrm>
            <a:off x="9280931" y="4636008"/>
            <a:ext cx="23621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variáveis: idade, estudo e bens na clusterização; despesas no desafio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571500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e bens: extrato do TSE de 23/08/2026 19:30:42; prestação de contas: extrato de 20/09/2026 04:05:40. Junção pela chave SQ_CANDIDATO; candidato sem bem ou sem despesa registrada entra com valor zero (38 não aparecem no arquivo de despesas).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ANÁLISE DESCRITIVA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Idade e estudo: candidatos maduros e, em maioria, com diploma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76656" y="641908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591056" y="6487668"/>
            <a:ext cx="91440" cy="91440"/>
          </a:xfrm>
          <a:prstGeom prst="ellipse">
            <a:avLst/>
          </a:prstGeom>
          <a:solidFill>
            <a:srgbClr val="2E7D5B"/>
          </a:solidFill>
          <a:ln w="63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1719072" y="6419088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Descritiva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70632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2898648" y="6419088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de 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087368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4215384" y="641908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29784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5257800" y="6419088"/>
            <a:ext cx="612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6163056" y="6419088"/>
            <a:ext cx="818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Anomalias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146036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7274052" y="6419088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185855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Idade (anos, na data da eleição)</a:t>
            </a:r>
            <a:endParaRPr lang="en-US" sz="1400" dirty="0"/>
          </a:p>
        </p:txBody>
      </p:sp>
      <p:graphicFrame>
        <p:nvGraphicFramePr>
          <p:cNvPr id="20" name="Chart 0"/>
          <p:cNvGraphicFramePr/>
          <p:nvPr>
            <p:extLst>
              <p:ext uri="{D42A27DB-BD31-4B8C-83A1-F6EECF244321}">
                <p14:modId xmlns:p14="http://schemas.microsoft.com/office/powerpoint/2010/main" val="986355511"/>
              </p:ext>
            </p:extLst>
          </p:nvPr>
        </p:nvGraphicFramePr>
        <p:xfrm>
          <a:off x="457200" y="1737360"/>
          <a:ext cx="557784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Text 18"/>
          <p:cNvSpPr txBox="1"/>
          <p:nvPr/>
        </p:nvSpPr>
        <p:spPr>
          <a:xfrm>
            <a:off x="548640" y="46634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47,7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511149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920240" y="46634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1920240" y="511149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3291840" y="46634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11,8</a:t>
            </a:r>
            <a:endParaRPr lang="en-US" sz="2200" dirty="0"/>
          </a:p>
        </p:txBody>
      </p:sp>
      <p:sp>
        <p:nvSpPr>
          <p:cNvPr id="26" name="Text 23"/>
          <p:cNvSpPr txBox="1"/>
          <p:nvPr/>
        </p:nvSpPr>
        <p:spPr>
          <a:xfrm>
            <a:off x="3291840" y="511149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desvio-padrão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4663440" y="46634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21–85</a:t>
            </a:r>
            <a:endParaRPr lang="en-US" sz="2200" dirty="0"/>
          </a:p>
        </p:txBody>
      </p:sp>
      <p:sp>
        <p:nvSpPr>
          <p:cNvPr id="28" name="Text 25"/>
          <p:cNvSpPr txBox="1"/>
          <p:nvPr/>
        </p:nvSpPr>
        <p:spPr>
          <a:xfrm>
            <a:off x="4663440" y="511149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mín–máx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0" y="14173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estudo (anos equivalentes ao grau declarado)</a:t>
            </a:r>
            <a:endParaRPr lang="en-US" sz="1400" dirty="0"/>
          </a:p>
        </p:txBody>
      </p:sp>
      <p:graphicFrame>
        <p:nvGraphicFramePr>
          <p:cNvPr id="30" name="Chart 1"/>
          <p:cNvGraphicFramePr/>
          <p:nvPr/>
        </p:nvGraphicFramePr>
        <p:xfrm>
          <a:off x="6309360" y="1737360"/>
          <a:ext cx="539496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1" name="Text 27"/>
          <p:cNvSpPr txBox="1"/>
          <p:nvPr/>
        </p:nvSpPr>
        <p:spPr>
          <a:xfrm>
            <a:off x="6400800" y="444398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lê e escreve · 4 e 8 fundamental inc./comp. · 9 e 11 médio inc./comp. · 13 superior inc. · 16 superior comp.</a:t>
            </a:r>
            <a:endParaRPr lang="en-US" sz="900" dirty="0"/>
          </a:p>
        </p:txBody>
      </p:sp>
      <p:sp>
        <p:nvSpPr>
          <p:cNvPr id="32" name="Text 28"/>
          <p:cNvSpPr txBox="1"/>
          <p:nvPr/>
        </p:nvSpPr>
        <p:spPr>
          <a:xfrm>
            <a:off x="6400800" y="46634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13,7</a:t>
            </a:r>
            <a:endParaRPr lang="en-US" sz="2200" dirty="0"/>
          </a:p>
        </p:txBody>
      </p:sp>
      <p:sp>
        <p:nvSpPr>
          <p:cNvPr id="33" name="Text 29"/>
          <p:cNvSpPr txBox="1"/>
          <p:nvPr/>
        </p:nvSpPr>
        <p:spPr>
          <a:xfrm>
            <a:off x="6400800" y="51114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endParaRPr lang="en-US" sz="1100" dirty="0"/>
          </a:p>
        </p:txBody>
      </p:sp>
      <p:sp>
        <p:nvSpPr>
          <p:cNvPr id="34" name="Text 30"/>
          <p:cNvSpPr txBox="1"/>
          <p:nvPr/>
        </p:nvSpPr>
        <p:spPr>
          <a:xfrm>
            <a:off x="8001000" y="46634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200" dirty="0"/>
          </a:p>
        </p:txBody>
      </p:sp>
      <p:sp>
        <p:nvSpPr>
          <p:cNvPr id="35" name="Text 31"/>
          <p:cNvSpPr txBox="1"/>
          <p:nvPr/>
        </p:nvSpPr>
        <p:spPr>
          <a:xfrm>
            <a:off x="8001000" y="51114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</a:t>
            </a:r>
            <a:endParaRPr lang="en-US" sz="1100" dirty="0"/>
          </a:p>
        </p:txBody>
      </p:sp>
      <p:sp>
        <p:nvSpPr>
          <p:cNvPr id="36" name="Text 32"/>
          <p:cNvSpPr txBox="1"/>
          <p:nvPr/>
        </p:nvSpPr>
        <p:spPr>
          <a:xfrm>
            <a:off x="9601200" y="46634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59%</a:t>
            </a:r>
            <a:endParaRPr lang="en-US" sz="2200" dirty="0"/>
          </a:p>
        </p:txBody>
      </p:sp>
      <p:sp>
        <p:nvSpPr>
          <p:cNvPr id="37" name="Text 33"/>
          <p:cNvSpPr txBox="1"/>
          <p:nvPr/>
        </p:nvSpPr>
        <p:spPr>
          <a:xfrm>
            <a:off x="9601200" y="51114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superior completo</a:t>
            </a:r>
            <a:endParaRPr lang="en-US" sz="1100" dirty="0"/>
          </a:p>
        </p:txBody>
      </p:sp>
      <p:sp>
        <p:nvSpPr>
          <p:cNvPr id="38" name="Text 34"/>
          <p:cNvSpPr txBox="1"/>
          <p:nvPr/>
        </p:nvSpPr>
        <p:spPr>
          <a:xfrm>
            <a:off x="548640" y="566928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idade é quase simétrica em torno de 48 anos (21 a 85). O tempo de estudo é o oposto — concentrado no topo: 59% têm superior completo e só 9% não concluíram o ensino médio.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ANÁLISE DESCRITIVA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Bens e despesas: muitos zeros e uma cauda longa de valores altos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76656" y="641908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591056" y="6487668"/>
            <a:ext cx="91440" cy="91440"/>
          </a:xfrm>
          <a:prstGeom prst="ellipse">
            <a:avLst/>
          </a:prstGeom>
          <a:solidFill>
            <a:srgbClr val="2E7D5B"/>
          </a:solidFill>
          <a:ln w="63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1719072" y="6419088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Descritiva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70632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2898648" y="6419088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de 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087368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4215384" y="641908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29784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5257800" y="6419088"/>
            <a:ext cx="612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6163056" y="6419088"/>
            <a:ext cx="818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Anomalias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146036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7274052" y="6419088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185855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1417320"/>
            <a:ext cx="531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 bens declarados</a:t>
            </a:r>
            <a:endParaRPr lang="en-US" sz="1400" dirty="0"/>
          </a:p>
        </p:txBody>
      </p:sp>
      <p:graphicFrame>
        <p:nvGraphicFramePr>
          <p:cNvPr id="20" name="Chart 0"/>
          <p:cNvGraphicFramePr/>
          <p:nvPr>
            <p:extLst>
              <p:ext uri="{D42A27DB-BD31-4B8C-83A1-F6EECF244321}">
                <p14:modId xmlns:p14="http://schemas.microsoft.com/office/powerpoint/2010/main" val="370488685"/>
              </p:ext>
            </p:extLst>
          </p:nvPr>
        </p:nvGraphicFramePr>
        <p:xfrm>
          <a:off x="457200" y="1737360"/>
          <a:ext cx="5410048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Text 18"/>
          <p:cNvSpPr txBox="1"/>
          <p:nvPr/>
        </p:nvSpPr>
        <p:spPr>
          <a:xfrm>
            <a:off x="548640" y="4572000"/>
            <a:ext cx="12565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32%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992624"/>
            <a:ext cx="12565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declararam zero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1878292" y="4572000"/>
            <a:ext cx="12565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R$ 144 mil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1878292" y="4992624"/>
            <a:ext cx="12565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(todos)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3207944" y="4572000"/>
            <a:ext cx="12565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R$ 441 mil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3207944" y="4992624"/>
            <a:ext cx="12565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de quem tem &gt; 0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4537596" y="4572000"/>
            <a:ext cx="12565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R$ 78,5 mi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4537596" y="4992624"/>
            <a:ext cx="12565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6324448" y="1417320"/>
            <a:ext cx="531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 despesas contratadas na campanha</a:t>
            </a:r>
            <a:endParaRPr lang="en-US" sz="1400" dirty="0"/>
          </a:p>
        </p:txBody>
      </p:sp>
      <p:graphicFrame>
        <p:nvGraphicFramePr>
          <p:cNvPr id="30" name="Chart 1"/>
          <p:cNvGraphicFramePr/>
          <p:nvPr>
            <p:extLst>
              <p:ext uri="{D42A27DB-BD31-4B8C-83A1-F6EECF244321}">
                <p14:modId xmlns:p14="http://schemas.microsoft.com/office/powerpoint/2010/main" val="552800546"/>
              </p:ext>
            </p:extLst>
          </p:nvPr>
        </p:nvGraphicFramePr>
        <p:xfrm>
          <a:off x="6233008" y="1737360"/>
          <a:ext cx="5410048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1" name="Text 27"/>
          <p:cNvSpPr txBox="1"/>
          <p:nvPr/>
        </p:nvSpPr>
        <p:spPr>
          <a:xfrm>
            <a:off x="6324448" y="4572000"/>
            <a:ext cx="12565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29%</a:t>
            </a:r>
            <a:endParaRPr lang="en-US" sz="1700" dirty="0"/>
          </a:p>
        </p:txBody>
      </p:sp>
      <p:sp>
        <p:nvSpPr>
          <p:cNvPr id="32" name="Text 28"/>
          <p:cNvSpPr txBox="1"/>
          <p:nvPr/>
        </p:nvSpPr>
        <p:spPr>
          <a:xfrm>
            <a:off x="6324448" y="4992624"/>
            <a:ext cx="12565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declararam zero</a:t>
            </a:r>
            <a:endParaRPr lang="en-US" sz="1050" dirty="0"/>
          </a:p>
        </p:txBody>
      </p:sp>
      <p:sp>
        <p:nvSpPr>
          <p:cNvPr id="33" name="Text 29"/>
          <p:cNvSpPr txBox="1"/>
          <p:nvPr/>
        </p:nvSpPr>
        <p:spPr>
          <a:xfrm>
            <a:off x="7654100" y="4572000"/>
            <a:ext cx="12565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R$ 67,0 mil</a:t>
            </a:r>
            <a:endParaRPr lang="en-US" sz="1700" dirty="0"/>
          </a:p>
        </p:txBody>
      </p:sp>
      <p:sp>
        <p:nvSpPr>
          <p:cNvPr id="34" name="Text 30"/>
          <p:cNvSpPr txBox="1"/>
          <p:nvPr/>
        </p:nvSpPr>
        <p:spPr>
          <a:xfrm>
            <a:off x="7654100" y="4992624"/>
            <a:ext cx="12565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(todos)</a:t>
            </a:r>
            <a:endParaRPr lang="en-US" sz="1050" dirty="0"/>
          </a:p>
        </p:txBody>
      </p:sp>
      <p:sp>
        <p:nvSpPr>
          <p:cNvPr id="35" name="Text 31"/>
          <p:cNvSpPr txBox="1"/>
          <p:nvPr/>
        </p:nvSpPr>
        <p:spPr>
          <a:xfrm>
            <a:off x="8983751" y="4572000"/>
            <a:ext cx="12565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R$ 181 mil</a:t>
            </a:r>
            <a:endParaRPr lang="en-US" sz="1700" dirty="0"/>
          </a:p>
        </p:txBody>
      </p:sp>
      <p:sp>
        <p:nvSpPr>
          <p:cNvPr id="36" name="Text 32"/>
          <p:cNvSpPr txBox="1"/>
          <p:nvPr/>
        </p:nvSpPr>
        <p:spPr>
          <a:xfrm>
            <a:off x="8983751" y="4992624"/>
            <a:ext cx="12565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de quem tem &gt; 0</a:t>
            </a:r>
            <a:endParaRPr lang="en-US" sz="1050" dirty="0"/>
          </a:p>
        </p:txBody>
      </p:sp>
      <p:sp>
        <p:nvSpPr>
          <p:cNvPr id="37" name="Text 33"/>
          <p:cNvSpPr txBox="1"/>
          <p:nvPr/>
        </p:nvSpPr>
        <p:spPr>
          <a:xfrm>
            <a:off x="10313403" y="4572000"/>
            <a:ext cx="12565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R$ 3,0 mi</a:t>
            </a:r>
            <a:endParaRPr lang="en-US" sz="1700" dirty="0"/>
          </a:p>
        </p:txBody>
      </p:sp>
      <p:sp>
        <p:nvSpPr>
          <p:cNvPr id="38" name="Text 34"/>
          <p:cNvSpPr txBox="1"/>
          <p:nvPr/>
        </p:nvSpPr>
        <p:spPr>
          <a:xfrm>
            <a:off x="10313403" y="4992624"/>
            <a:ext cx="12565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</a:t>
            </a:r>
            <a:endParaRPr lang="en-US" sz="1050" dirty="0"/>
          </a:p>
        </p:txBody>
      </p:sp>
      <p:sp>
        <p:nvSpPr>
          <p:cNvPr id="39" name="Text 35"/>
          <p:cNvSpPr txBox="1"/>
          <p:nvPr/>
        </p:nvSpPr>
        <p:spPr>
          <a:xfrm>
            <a:off x="548640" y="55321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 declararam patrimônio zero e 29% ainda não tinham despesa contratada; poucos concentram valores muito altos (bens: média de R$ 1,2 mi contra mediana de R$ 143,9 mil). Bens e despesas têm correlação de só 0,36 (em log). Por isso as duas entram em escala logarítmica (log1p), que mantém o zero e comprime a cauda.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ANÁLISE DESCRITIVA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são os 925, no geral — a régua para comparar os clusters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76656" y="641908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591056" y="6487668"/>
            <a:ext cx="91440" cy="91440"/>
          </a:xfrm>
          <a:prstGeom prst="ellipse">
            <a:avLst/>
          </a:prstGeom>
          <a:solidFill>
            <a:srgbClr val="2E7D5B"/>
          </a:solidFill>
          <a:ln w="63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1719072" y="6419088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Descritiva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70632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2898648" y="6419088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de 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087368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4215384" y="641908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29784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5257800" y="6419088"/>
            <a:ext cx="612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6163056" y="6419088"/>
            <a:ext cx="818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Anomalias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146036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7274052" y="6419088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185855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1417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Sexo</a:t>
            </a:r>
            <a:endParaRPr lang="en-US" sz="14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502920" y="1737360"/>
          <a:ext cx="2377440" cy="11338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Text 18"/>
          <p:cNvSpPr txBox="1"/>
          <p:nvPr/>
        </p:nvSpPr>
        <p:spPr>
          <a:xfrm>
            <a:off x="3154680" y="1417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Cor/raça</a:t>
            </a:r>
            <a:endParaRPr lang="en-US" sz="1400" dirty="0"/>
          </a:p>
        </p:txBody>
      </p:sp>
      <p:graphicFrame>
        <p:nvGraphicFramePr>
          <p:cNvPr id="22" name="Chart 1"/>
          <p:cNvGraphicFramePr/>
          <p:nvPr/>
        </p:nvGraphicFramePr>
        <p:xfrm>
          <a:off x="3108960" y="1737360"/>
          <a:ext cx="32918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" name="Text 19"/>
          <p:cNvSpPr txBox="1"/>
          <p:nvPr/>
        </p:nvSpPr>
        <p:spPr>
          <a:xfrm>
            <a:off x="6675120" y="1417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Ocupação (agrupada)</a:t>
            </a:r>
            <a:endParaRPr lang="en-US" sz="1400" dirty="0"/>
          </a:p>
        </p:txBody>
      </p:sp>
      <p:graphicFrame>
        <p:nvGraphicFramePr>
          <p:cNvPr id="24" name="Chart 2"/>
          <p:cNvGraphicFramePr/>
          <p:nvPr/>
        </p:nvGraphicFramePr>
        <p:xfrm>
          <a:off x="6629400" y="1737360"/>
          <a:ext cx="4846320" cy="34381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5" name="Shape 20"/>
          <p:cNvSpPr/>
          <p:nvPr/>
        </p:nvSpPr>
        <p:spPr>
          <a:xfrm>
            <a:off x="548640" y="5074920"/>
            <a:ext cx="11094415" cy="1097280"/>
          </a:xfrm>
          <a:prstGeom prst="roundRect">
            <a:avLst>
              <a:gd name="adj" fmla="val 6667"/>
            </a:avLst>
          </a:prstGeom>
          <a:solidFill>
            <a:srgbClr val="EEF5F1"/>
          </a:solidFill>
          <a:ln w="6350">
            <a:solidFill>
              <a:srgbClr val="EEF5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1"/>
          <p:cNvSpPr txBox="1"/>
          <p:nvPr/>
        </p:nvSpPr>
        <p:spPr>
          <a:xfrm>
            <a:off x="777240" y="5138928"/>
            <a:ext cx="1063721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Maioria masculina (61%) e parda (53%), com ocupações ligadas a empresas, serviço público, saúde e direito. Esses percentuais são a referência: na caracterização, destacamos o que cada cluster tem acima ou abaixo dessa média.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CLUSTERIZAÇÃO — PONTO DE PARTIDA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Ponto de partida: K-Means — e por que a escolaridade virou anos de estudo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76656" y="641908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591056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1719072" y="6419088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Descritiva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70632" y="6487668"/>
            <a:ext cx="91440" cy="91440"/>
          </a:xfrm>
          <a:prstGeom prst="ellipse">
            <a:avLst/>
          </a:prstGeom>
          <a:solidFill>
            <a:srgbClr val="2E7D5B"/>
          </a:solidFill>
          <a:ln w="63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2898648" y="6419088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de 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087368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4215384" y="641908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29784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5257800" y="6419088"/>
            <a:ext cx="612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6163056" y="6419088"/>
            <a:ext cx="818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Anomalias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146036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7274052" y="6419088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185855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21208" y="1344168"/>
            <a:ext cx="5632704" cy="3266764"/>
          </a:xfrm>
          <a:prstGeom prst="rect">
            <a:avLst/>
          </a:prstGeom>
          <a:solidFill>
            <a:srgbClr val="FFFFFF"/>
          </a:solidFill>
          <a:ln w="9525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0" name="Image 0" descr="/home/claude/work/proj/Imagens/image2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5577840" cy="321190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548640" y="4629220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02_clusterizacao · image2_1 — Versão 1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6400800" y="1417320"/>
            <a:ext cx="5242255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1: </a:t>
            </a:r>
            <a:r>
              <a:rPr lang="en-US" sz="13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idade, grau de instrução no código bruto do TSE  e </a:t>
            </a:r>
            <a:r>
              <a:rPr lang="en-US" sz="1300" dirty="0" err="1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</a:t>
            </a:r>
            <a:r>
              <a:rPr lang="en-US" sz="13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 código é ordinal: o K-Means trataria os saltos entre graus como iguais.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2: </a:t>
            </a:r>
            <a:r>
              <a:rPr lang="en-US" sz="13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grau convertido em anos de estudo (1 a 16), a escala usada em censos, e quatro métricas para escolher k.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k = 5, a silhueta quase não muda (0,366 × 0,365), </a:t>
            </a:r>
            <a:r>
              <a:rPr lang="en-US" sz="13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os grupos mudam de tamanho: a forma de medir a variável altera o resultado.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duas versões, o cotovelo desce suave, </a:t>
            </a:r>
            <a:r>
              <a:rPr lang="en-US" sz="13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um "V" nítido — a escolha de k vai exigir mais do que uma métrica.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438748" y="4498848"/>
            <a:ext cx="51663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4" name="Image 1" descr="/home/claude/work/proj/Imagens/image2_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6180" y="4526280"/>
            <a:ext cx="5111496" cy="1545336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6466180" y="6117336"/>
            <a:ext cx="5111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02_clusterizacao · image2_7 — tamanhos V1 × V2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ESCOLHA DE 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avaliados de 2 a 19: nenhum cotovelo nítido; a silhueta é máxima em k = 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76656" y="641908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591056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1719072" y="6419088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Descritiva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70632" y="6487668"/>
            <a:ext cx="91440" cy="91440"/>
          </a:xfrm>
          <a:prstGeom prst="ellipse">
            <a:avLst/>
          </a:prstGeom>
          <a:solidFill>
            <a:srgbClr val="2E7D5B"/>
          </a:solidFill>
          <a:ln w="63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2898648" y="6419088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de 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087368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4215384" y="641908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29784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5257800" y="6419088"/>
            <a:ext cx="612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6163056" y="6419088"/>
            <a:ext cx="818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Anomalias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146036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7274052" y="6419088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185855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21208" y="1298448"/>
            <a:ext cx="6044184" cy="4187031"/>
          </a:xfrm>
          <a:prstGeom prst="rect">
            <a:avLst/>
          </a:prstGeom>
          <a:solidFill>
            <a:srgbClr val="FFFFFF"/>
          </a:solidFill>
          <a:ln w="9525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0" name="Image 0" descr="/home/claude/work/proj/Imagens/image2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5989320" cy="4132167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548640" y="5503767"/>
            <a:ext cx="5989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02_clusterizacao · image2_3 — K-Means Versão 2, k de 2 a 19</a:t>
            </a:r>
            <a:endParaRPr lang="en-US" sz="8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2280" y="1417320"/>
          <a:ext cx="4830775" cy="3104896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17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Silhueta K-Means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Silhueta Bisecting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Davies-Bouldin K-Means 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Calinski-Harabasz K-Means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3" name="Text 19"/>
          <p:cNvSpPr txBox="1"/>
          <p:nvPr/>
        </p:nvSpPr>
        <p:spPr>
          <a:xfrm>
            <a:off x="6812280" y="4526280"/>
            <a:ext cx="4830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K-Means: notebook 02, Versão 2 · Bisecting: mesma base, partição em cada k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6812280" y="4846320"/>
            <a:ext cx="4830775" cy="1417320"/>
          </a:xfrm>
          <a:prstGeom prst="roundRect">
            <a:avLst>
              <a:gd name="adj" fmla="val 5161"/>
            </a:avLst>
          </a:prstGeom>
          <a:solidFill>
            <a:srgbClr val="EEF5F1"/>
          </a:solidFill>
          <a:ln w="6350">
            <a:solidFill>
              <a:srgbClr val="EEF5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1"/>
          <p:cNvSpPr txBox="1"/>
          <p:nvPr/>
        </p:nvSpPr>
        <p:spPr>
          <a:xfrm>
            <a:off x="6976872" y="4901184"/>
            <a:ext cx="4501591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métricas favorecem k pequeno: em k = 2, silhueta de 0,556, menor Davies-Bouldin (0,74) e maior Calinski-Harabasz (1.232). A partir de k = 5, as curvas ficam praticamente planas: a estatística sozinha não aponta um k "certo" acima de 2.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BISECTING K-MEANS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Bisecting K-Means: dividir sempre o grupo mais heterogêneo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76656" y="641908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591056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1719072" y="6419088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Descritiva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70632" y="6487668"/>
            <a:ext cx="91440" cy="91440"/>
          </a:xfrm>
          <a:prstGeom prst="ellipse">
            <a:avLst/>
          </a:prstGeom>
          <a:solidFill>
            <a:srgbClr val="2E7D5B"/>
          </a:solidFill>
          <a:ln w="63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2898648" y="6419088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de 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087368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4215384" y="641908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29784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5257800" y="6419088"/>
            <a:ext cx="612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6163056" y="6419088"/>
            <a:ext cx="818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Anomalias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146036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7274052" y="6419088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185855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146304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4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Começa </a:t>
            </a:r>
            <a:r>
              <a:rPr lang="en-US" sz="14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os 925 candidatos em um único grupo.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4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 o grupo de maior inércia média </a:t>
            </a:r>
            <a:r>
              <a:rPr lang="en-US" sz="14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(dispersão por candidato) — a média, e não a soma, para não dividir sempre o maior grupo.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4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esse grupo em dois </a:t>
            </a:r>
            <a:r>
              <a:rPr lang="en-US" sz="14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um K-Means de k = 2 (semente 42).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4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Repete: </a:t>
            </a:r>
            <a:r>
              <a:rPr lang="en-US" sz="14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divisão aumenta k em 1 e forma uma árvore. Implementação manual, porque a do scikit-learn não mostra o histórico.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4480560" cy="1645920"/>
          </a:xfrm>
          <a:prstGeom prst="roundRect">
            <a:avLst>
              <a:gd name="adj" fmla="val 4444"/>
            </a:avLst>
          </a:prstGeom>
          <a:solidFill>
            <a:srgbClr val="EEF5F1"/>
          </a:solidFill>
          <a:ln w="6350">
            <a:solidFill>
              <a:srgbClr val="EEF5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 txBox="1"/>
          <p:nvPr/>
        </p:nvSpPr>
        <p:spPr>
          <a:xfrm>
            <a:off x="731520" y="4636008"/>
            <a:ext cx="41148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Mesmas 3 variáveis da Versão 2 (idade, anos de estudo e patrimônio em log1p), em escala 0–1 (MinMax). A regra do IQR para patrimônio extremo não removeu ninguém: os 32% de zeros alargam o intervalo.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276088" y="1389888"/>
            <a:ext cx="6394399" cy="32046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3" name="Image 0" descr="/home/claude/work/proj/Imagens/image2_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417320"/>
            <a:ext cx="6339535" cy="3149832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5303520" y="4612872"/>
            <a:ext cx="63395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02_clusterizacao · image2_15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5303520" y="4859760"/>
            <a:ext cx="6339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 completa até k = 20. Círculo = nº de candidatos; vermelho = ainda não dividido.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5303520" y="5134080"/>
            <a:ext cx="6339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5 clusters finais </a:t>
            </a:r>
            <a:r>
              <a:rPr lang="en-US" sz="125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os grupos criados até k = 5: 414, 208, 145, 92, 66 candidatos.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ESCOLHA DE 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para cada k: o que cada nova divisão separou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76656" y="641908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591056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1719072" y="6419088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Descritiva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70632" y="6487668"/>
            <a:ext cx="91440" cy="91440"/>
          </a:xfrm>
          <a:prstGeom prst="ellipse">
            <a:avLst/>
          </a:prstGeom>
          <a:solidFill>
            <a:srgbClr val="2E7D5B"/>
          </a:solidFill>
          <a:ln w="63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2898648" y="6419088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de 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087368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4215384" y="641908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29784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5257800" y="6419088"/>
            <a:ext cx="612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6163056" y="6419088"/>
            <a:ext cx="818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Anomalias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146036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7274052" y="6419088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185855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1371600"/>
            <a:ext cx="26021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2</a:t>
            </a:r>
            <a:r>
              <a:rPr lang="en-US" sz="1200" dirty="0">
                <a:solidFill>
                  <a:srgbClr val="5E6B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silhueta 0,556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21208" y="1783080"/>
            <a:ext cx="2657018" cy="2208504"/>
          </a:xfrm>
          <a:prstGeom prst="rect">
            <a:avLst/>
          </a:prstGeom>
          <a:solidFill>
            <a:srgbClr val="FFFFFF"/>
          </a:solidFill>
          <a:ln w="9525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1" name="Image 0" descr="/home/claude/work/proj/Imagens/image2_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10512"/>
            <a:ext cx="2602154" cy="215364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548640" y="4009872"/>
            <a:ext cx="260215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02_clusterizacao · image2_16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48640" y="4407408"/>
            <a:ext cx="2602154" cy="1188720"/>
          </a:xfrm>
          <a:prstGeom prst="roundRect">
            <a:avLst>
              <a:gd name="adj" fmla="val 6154"/>
            </a:avLst>
          </a:prstGeom>
          <a:solidFill>
            <a:srgbClr val="EEF5F1"/>
          </a:solidFill>
          <a:ln w="6350">
            <a:solidFill>
              <a:srgbClr val="EEF5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 txBox="1"/>
          <p:nvPr/>
        </p:nvSpPr>
        <p:spPr>
          <a:xfrm>
            <a:off x="676656" y="4453128"/>
            <a:ext cx="234612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622 com patrimônio × 303 praticamente sem patrimônio (298 declararam zero)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3379394" y="1371600"/>
            <a:ext cx="26021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3</a:t>
            </a:r>
            <a:r>
              <a:rPr lang="en-US" sz="1200" dirty="0">
                <a:solidFill>
                  <a:srgbClr val="5E6B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silhueta 0,490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3351962" y="1783080"/>
            <a:ext cx="2657018" cy="2208504"/>
          </a:xfrm>
          <a:prstGeom prst="rect">
            <a:avLst/>
          </a:prstGeom>
          <a:solidFill>
            <a:srgbClr val="FFFFFF"/>
          </a:solidFill>
          <a:ln w="9525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7" name="Image 1" descr="/home/claude/work/proj/Imagens/image2_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394" y="1810512"/>
            <a:ext cx="2602154" cy="215364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3379394" y="4009872"/>
            <a:ext cx="260215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02_clusterizacao · image2_18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3379394" y="4407408"/>
            <a:ext cx="2602154" cy="1188720"/>
          </a:xfrm>
          <a:prstGeom prst="roundRect">
            <a:avLst>
              <a:gd name="adj" fmla="val 6154"/>
            </a:avLst>
          </a:prstGeom>
          <a:solidFill>
            <a:srgbClr val="EEF5F1"/>
          </a:solidFill>
          <a:ln w="6350">
            <a:solidFill>
              <a:srgbClr val="EEF5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6"/>
          <p:cNvSpPr txBox="1"/>
          <p:nvPr/>
        </p:nvSpPr>
        <p:spPr>
          <a:xfrm>
            <a:off x="3507410" y="4453128"/>
            <a:ext cx="234612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303 sem patrimônio se dividem pela escolaridade: 158 (≈ 10 anos de estudo) × 145 (≈ 16)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6210148" y="1371600"/>
            <a:ext cx="26021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4</a:t>
            </a:r>
            <a:r>
              <a:rPr lang="en-US" sz="1200" dirty="0">
                <a:solidFill>
                  <a:srgbClr val="5E6B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silhueta 0,407</a:t>
            </a:r>
            <a:endParaRPr lang="en-US" sz="2000" dirty="0"/>
          </a:p>
        </p:txBody>
      </p:sp>
      <p:sp>
        <p:nvSpPr>
          <p:cNvPr id="32" name="Shape 28"/>
          <p:cNvSpPr/>
          <p:nvPr/>
        </p:nvSpPr>
        <p:spPr>
          <a:xfrm>
            <a:off x="6182716" y="1783080"/>
            <a:ext cx="2657018" cy="2208504"/>
          </a:xfrm>
          <a:prstGeom prst="rect">
            <a:avLst/>
          </a:prstGeom>
          <a:solidFill>
            <a:srgbClr val="FFFFFF"/>
          </a:solidFill>
          <a:ln w="9525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3" name="Image 2" descr="/home/claude/work/proj/Imagens/image2_1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148" y="1810512"/>
            <a:ext cx="2602154" cy="2153640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6210148" y="4009872"/>
            <a:ext cx="260215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02_clusterizacao · image2_19</a:t>
            </a:r>
            <a:endParaRPr lang="en-US" sz="850" dirty="0"/>
          </a:p>
        </p:txBody>
      </p:sp>
      <p:sp>
        <p:nvSpPr>
          <p:cNvPr id="35" name="Shape 30"/>
          <p:cNvSpPr/>
          <p:nvPr/>
        </p:nvSpPr>
        <p:spPr>
          <a:xfrm>
            <a:off x="6210148" y="4407408"/>
            <a:ext cx="2602154" cy="1188720"/>
          </a:xfrm>
          <a:prstGeom prst="roundRect">
            <a:avLst>
              <a:gd name="adj" fmla="val 6154"/>
            </a:avLst>
          </a:prstGeom>
          <a:solidFill>
            <a:srgbClr val="EEF5F1"/>
          </a:solidFill>
          <a:ln w="6350">
            <a:solidFill>
              <a:srgbClr val="EEF5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1"/>
          <p:cNvSpPr txBox="1"/>
          <p:nvPr/>
        </p:nvSpPr>
        <p:spPr>
          <a:xfrm>
            <a:off x="6338164" y="4453128"/>
            <a:ext cx="234612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622 com patrimônio se dividem pela escolaridade: 414 com superior × 208 com ensino médio</a:t>
            </a:r>
            <a:endParaRPr lang="en-US" sz="1200" dirty="0"/>
          </a:p>
        </p:txBody>
      </p:sp>
      <p:sp>
        <p:nvSpPr>
          <p:cNvPr id="37" name="Text 32"/>
          <p:cNvSpPr txBox="1"/>
          <p:nvPr/>
        </p:nvSpPr>
        <p:spPr>
          <a:xfrm>
            <a:off x="9040901" y="1371600"/>
            <a:ext cx="26021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45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5</a:t>
            </a:r>
            <a:r>
              <a:rPr lang="en-US" sz="1200" dirty="0">
                <a:solidFill>
                  <a:srgbClr val="5E6B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silhueta 0,414</a:t>
            </a:r>
            <a:endParaRPr lang="en-US" sz="2000" dirty="0"/>
          </a:p>
        </p:txBody>
      </p:sp>
      <p:sp>
        <p:nvSpPr>
          <p:cNvPr id="38" name="Shape 33"/>
          <p:cNvSpPr/>
          <p:nvPr/>
        </p:nvSpPr>
        <p:spPr>
          <a:xfrm>
            <a:off x="9013469" y="1783080"/>
            <a:ext cx="2657018" cy="2208504"/>
          </a:xfrm>
          <a:prstGeom prst="rect">
            <a:avLst/>
          </a:prstGeom>
          <a:solidFill>
            <a:srgbClr val="FFFFFF"/>
          </a:solidFill>
          <a:ln w="9525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9" name="Image 3" descr="/home/claude/work/proj/Imagens/image2_2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0901" y="1810512"/>
            <a:ext cx="2602154" cy="2153640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9040901" y="4009872"/>
            <a:ext cx="260215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02_clusterizacao · image2_21</a:t>
            </a:r>
            <a:endParaRPr lang="en-US" sz="850" dirty="0"/>
          </a:p>
        </p:txBody>
      </p:sp>
      <p:sp>
        <p:nvSpPr>
          <p:cNvPr id="41" name="Shape 35"/>
          <p:cNvSpPr/>
          <p:nvPr/>
        </p:nvSpPr>
        <p:spPr>
          <a:xfrm>
            <a:off x="9040901" y="4407408"/>
            <a:ext cx="2602154" cy="1188720"/>
          </a:xfrm>
          <a:prstGeom prst="roundRect">
            <a:avLst>
              <a:gd name="adj" fmla="val 6154"/>
            </a:avLst>
          </a:prstGeom>
          <a:solidFill>
            <a:srgbClr val="FBE9E1"/>
          </a:solidFill>
          <a:ln w="6350">
            <a:solidFill>
              <a:srgbClr val="FBE9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36"/>
          <p:cNvSpPr txBox="1"/>
          <p:nvPr/>
        </p:nvSpPr>
        <p:spPr>
          <a:xfrm>
            <a:off x="9168917" y="4453128"/>
            <a:ext cx="234612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158 se dividem pela idade: 92 jovens (33 anos) × 66 mais velhos e com menos estudo (52 anos)</a:t>
            </a:r>
            <a:endParaRPr lang="en-US" sz="1200" dirty="0"/>
          </a:p>
        </p:txBody>
      </p:sp>
      <p:sp>
        <p:nvSpPr>
          <p:cNvPr id="43" name="Text 37"/>
          <p:cNvSpPr txBox="1"/>
          <p:nvPr/>
        </p:nvSpPr>
        <p:spPr>
          <a:xfrm>
            <a:off x="548640" y="5760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k = 6, o algoritmo partiria os Batalhadores (208) em 128 mais jovens (42 anos em média) e 80 mais velhos (59 anos): um refinamento do mesmo perfil, não um perfil novo.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ESCOLHA DE 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parar? Até k = 6 o Bisecting parte grupos grandes; depois, sobretudo sobras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76656" y="641908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591056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1719072" y="6419088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Descritiva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70632" y="6487668"/>
            <a:ext cx="91440" cy="91440"/>
          </a:xfrm>
          <a:prstGeom prst="ellipse">
            <a:avLst/>
          </a:prstGeom>
          <a:solidFill>
            <a:srgbClr val="2E7D5B"/>
          </a:solidFill>
          <a:ln w="63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2898648" y="6419088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de 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087368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4215384" y="641908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29784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5257800" y="6419088"/>
            <a:ext cx="612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6163056" y="6419088"/>
            <a:ext cx="818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Anomalias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146036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7274052" y="6419088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185855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21208" y="1344168"/>
            <a:ext cx="6729984" cy="2407964"/>
          </a:xfrm>
          <a:prstGeom prst="rect">
            <a:avLst/>
          </a:prstGeom>
          <a:solidFill>
            <a:srgbClr val="FFFFFF"/>
          </a:solidFill>
          <a:ln w="9525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0" name="Image 0" descr="/home/claude/work/proj/Imagens/image2_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6675120" cy="235310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548640" y="3770420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02_clusterizacao · image2_14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297680"/>
            <a:ext cx="6675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 do grupo dividido: </a:t>
            </a:r>
            <a:r>
              <a:rPr lang="en-US" sz="13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 = 2 a k = 6, entre 158 e 925 candidatos. De k = 7 a 9, o algoritmo fatia grupos pequenos (80, 66 e 14 candidatos); só em k = 10 volta a um grupo grande — os 414 Prósperos.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Inércia média do grupo escolhido: </a:t>
            </a:r>
            <a:r>
              <a:rPr lang="en-US" sz="13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 forte de k = 2 (0,196) para k = 3 (0,093) e depois desce devagar.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43800" y="1417320"/>
          <a:ext cx="4099255" cy="329184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03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grupo dividido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inércia média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grupos criados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0,196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622 + 303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0,093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158 + 145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414 + 208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0,072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 + 66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5E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E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E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0,072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E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 + 80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5E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E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E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0,066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E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 + 14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5E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E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E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0,064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E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+ 18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5E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E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E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E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+ 6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5E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E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E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E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244 + 170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4" name="Text 20"/>
          <p:cNvSpPr txBox="1"/>
          <p:nvPr/>
        </p:nvSpPr>
        <p:spPr>
          <a:xfrm>
            <a:off x="7543800" y="4800600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destaque, k = 5; em cinza, as divisões seguintes (não adotadas).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ESCOLHA DE 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k = 5? Uma escolha técnica e de negócio, assumida explicitamente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76656" y="641908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591056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1719072" y="6419088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Descritiva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70632" y="6487668"/>
            <a:ext cx="91440" cy="91440"/>
          </a:xfrm>
          <a:prstGeom prst="ellipse">
            <a:avLst/>
          </a:prstGeom>
          <a:solidFill>
            <a:srgbClr val="2E7D5B"/>
          </a:solidFill>
          <a:ln w="63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2898648" y="6419088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de 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087368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4215384" y="641908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29784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5257800" y="6419088"/>
            <a:ext cx="612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6163056" y="6419088"/>
            <a:ext cx="818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Anomalias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146036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7274052" y="6419088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185855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1463040"/>
            <a:ext cx="5410048" cy="1783080"/>
          </a:xfrm>
          <a:prstGeom prst="roundRect">
            <a:avLst>
              <a:gd name="adj" fmla="val 4103"/>
            </a:avLst>
          </a:prstGeom>
          <a:solidFill>
            <a:srgbClr val="EEF5F1"/>
          </a:solidFill>
          <a:ln w="6350">
            <a:solidFill>
              <a:srgbClr val="EEF5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 txBox="1"/>
          <p:nvPr/>
        </p:nvSpPr>
        <p:spPr>
          <a:xfrm>
            <a:off x="731520" y="1627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1627632"/>
            <a:ext cx="458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silhueta cai pouco — e tem pico local em 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2066544"/>
            <a:ext cx="45870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máxima em k = 2 (0,556). No Bisecting, vale 0,407 em k = 4, 0,414 em k = 5 e 0,385 em k = 6. Com k = 5, o Bisecting supera o K-Means (0,414 × 0,365).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33008" y="1463040"/>
            <a:ext cx="5410048" cy="1783080"/>
          </a:xfrm>
          <a:prstGeom prst="roundRect">
            <a:avLst>
              <a:gd name="adj" fmla="val 4103"/>
            </a:avLst>
          </a:prstGeom>
          <a:solidFill>
            <a:srgbClr val="EEF5F1"/>
          </a:solidFill>
          <a:ln w="6350">
            <a:solidFill>
              <a:srgbClr val="EEF5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 txBox="1"/>
          <p:nvPr/>
        </p:nvSpPr>
        <p:spPr>
          <a:xfrm>
            <a:off x="6415888" y="1627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6873088" y="1627632"/>
            <a:ext cx="458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2 não descreve perfis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873088" y="2066544"/>
            <a:ext cx="45870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separa quem tem patrimônio de quem praticamente não tem (622 × 303): não conta a história socioeconômica.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3447288"/>
            <a:ext cx="5410048" cy="1783080"/>
          </a:xfrm>
          <a:prstGeom prst="roundRect">
            <a:avLst>
              <a:gd name="adj" fmla="val 4103"/>
            </a:avLst>
          </a:prstGeom>
          <a:solidFill>
            <a:srgbClr val="EEF5F1"/>
          </a:solidFill>
          <a:ln w="6350">
            <a:solidFill>
              <a:srgbClr val="EEF5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 txBox="1"/>
          <p:nvPr/>
        </p:nvSpPr>
        <p:spPr>
          <a:xfrm>
            <a:off x="731520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3611880"/>
            <a:ext cx="458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5 = granularidade útil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1188720" y="4050792"/>
            <a:ext cx="45870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 o bloco com patrimônio pela escolaridade (Prósperos × Batalhadores) e o bloco sem patrimônio em três realidades: diplomados, jovens e baixa escolaridade.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233008" y="3447288"/>
            <a:ext cx="5410048" cy="1783080"/>
          </a:xfrm>
          <a:prstGeom prst="roundRect">
            <a:avLst>
              <a:gd name="adj" fmla="val 4103"/>
            </a:avLst>
          </a:prstGeom>
          <a:solidFill>
            <a:srgbClr val="EEF5F1"/>
          </a:solidFill>
          <a:ln w="6350">
            <a:solidFill>
              <a:srgbClr val="EEF5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 txBox="1"/>
          <p:nvPr/>
        </p:nvSpPr>
        <p:spPr>
          <a:xfrm>
            <a:off x="6415888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6873088" y="3611880"/>
            <a:ext cx="458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critério do próprio Bisecting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873088" y="4050792"/>
            <a:ext cx="45870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k = 5, cada divisão cria um perfil novo; k = 6 só refinaria os Batalhadores (mais jovens × mais velhos), e de k = 7 a 9 o algoritmo fatia grupos pequenos (80, 66 e 14 candidatos).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55321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Conclusão: </a:t>
            </a:r>
            <a:r>
              <a:rPr lang="en-US" sz="14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trocamos um pouco de coesão estatística por granularidade interpretável: cinco grupos que </a:t>
            </a:r>
            <a:r>
              <a:rPr lang="en-US" sz="1400" dirty="0" err="1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viram</a:t>
            </a:r>
            <a:r>
              <a:rPr lang="en-US" sz="14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</a:t>
            </a:r>
            <a:r>
              <a:rPr lang="en-US" sz="14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reconhecíveis — e que as regras de associação confirmam adiante.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CLUSTERS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5 clusters do Bisecting K-Means (k = 5)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76656" y="641908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591056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1719072" y="6419088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Descritiva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70632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2898648" y="6419088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de 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087368" y="6487668"/>
            <a:ext cx="91440" cy="91440"/>
          </a:xfrm>
          <a:prstGeom prst="ellipse">
            <a:avLst/>
          </a:prstGeom>
          <a:solidFill>
            <a:srgbClr val="2E7D5B"/>
          </a:solidFill>
          <a:ln w="63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4215384" y="641908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29784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5257800" y="6419088"/>
            <a:ext cx="612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6163056" y="6419088"/>
            <a:ext cx="818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Anomalias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146036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7274052" y="6419088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185855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5897880" cy="2852928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Idade média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Anos de estudo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Bens (mediana)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bens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8B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· Prósperos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414 (45%)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R$ 581,2 mil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D262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· Batalhadores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208 (22%)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R$ 240,1 mil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546B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· Promissores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 (16%)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47,6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BD4D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· Recém-chegados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 (10%)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5F9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· Desassistidos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 (7%)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52,4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Text 17"/>
          <p:cNvSpPr txBox="1"/>
          <p:nvPr/>
        </p:nvSpPr>
        <p:spPr>
          <a:xfrm>
            <a:off x="548640" y="4389120"/>
            <a:ext cx="5897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Silhueta do Bisecting com k = 5: 0,414 · base: 925 candidatos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647688" y="1344168"/>
            <a:ext cx="5022799" cy="3287539"/>
          </a:xfrm>
          <a:prstGeom prst="rect">
            <a:avLst/>
          </a:prstGeom>
          <a:solidFill>
            <a:srgbClr val="FFFFFF"/>
          </a:solidFill>
          <a:ln w="9525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2" name="Image 0" descr="/home/claude/work/proj/Imagens/image2_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371600"/>
            <a:ext cx="4967935" cy="3232675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675120" y="4649995"/>
            <a:ext cx="49679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02_clusterizacao · image2_22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548640" y="498348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EEF5F1"/>
          </a:solidFill>
          <a:ln w="6350">
            <a:solidFill>
              <a:srgbClr val="EEF5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1"/>
          <p:cNvSpPr txBox="1"/>
          <p:nvPr/>
        </p:nvSpPr>
        <p:spPr>
          <a:xfrm>
            <a:off x="777240" y="5047488"/>
            <a:ext cx="10637215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separa A e B (com bens) de C, D e E (praticamente sem bens); a escolaridade separa A e C (superior) de B, D e E; a idade isola D, o grupo jovem.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CLUSTERS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destaca cada cluster: desvio em relação à média geral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76656" y="641908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591056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1719072" y="6419088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Descritiva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70632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2898648" y="6419088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de 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087368" y="6487668"/>
            <a:ext cx="91440" cy="91440"/>
          </a:xfrm>
          <a:prstGeom prst="ellipse">
            <a:avLst/>
          </a:prstGeom>
          <a:solidFill>
            <a:srgbClr val="2E7D5B"/>
          </a:solidFill>
          <a:ln w="63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4215384" y="641908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29784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5257800" y="6419088"/>
            <a:ext cx="612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6163056" y="6419088"/>
            <a:ext cx="818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Anomalias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146036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7274052" y="6419088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185855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22778" y="1344168"/>
            <a:ext cx="4006605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0" name="Image 0" descr="/home/claude/work/proj/Imagens/image2_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210" y="1371600"/>
            <a:ext cx="3951741" cy="3282696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950210" y="4700016"/>
            <a:ext cx="395174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02_clusterizacao · image2_24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130550" y="1600200"/>
            <a:ext cx="329184" cy="329184"/>
          </a:xfrm>
          <a:prstGeom prst="ellipse">
            <a:avLst/>
          </a:prstGeom>
          <a:solidFill>
            <a:srgbClr val="66C2A5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 txBox="1"/>
          <p:nvPr/>
        </p:nvSpPr>
        <p:spPr>
          <a:xfrm>
            <a:off x="5130550" y="1600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532886" y="160020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Prósperos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130550" y="2167128"/>
            <a:ext cx="329184" cy="329184"/>
          </a:xfrm>
          <a:prstGeom prst="ellipse">
            <a:avLst/>
          </a:prstGeom>
          <a:solidFill>
            <a:srgbClr val="FC8D6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3"/>
          <p:cNvSpPr txBox="1"/>
          <p:nvPr/>
        </p:nvSpPr>
        <p:spPr>
          <a:xfrm>
            <a:off x="5130550" y="2167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5532886" y="216712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2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Batalhadores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130550" y="2734056"/>
            <a:ext cx="329184" cy="329184"/>
          </a:xfrm>
          <a:prstGeom prst="ellipse">
            <a:avLst/>
          </a:prstGeom>
          <a:solidFill>
            <a:srgbClr val="8DA0C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6"/>
          <p:cNvSpPr txBox="1"/>
          <p:nvPr/>
        </p:nvSpPr>
        <p:spPr>
          <a:xfrm>
            <a:off x="5130550" y="27340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5532886" y="273405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46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Promissores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130550" y="3300984"/>
            <a:ext cx="329184" cy="329184"/>
          </a:xfrm>
          <a:prstGeom prst="ellipse">
            <a:avLst/>
          </a:prstGeom>
          <a:solidFill>
            <a:srgbClr val="E78AC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29"/>
          <p:cNvSpPr txBox="1"/>
          <p:nvPr/>
        </p:nvSpPr>
        <p:spPr>
          <a:xfrm>
            <a:off x="5130550" y="3300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5532886" y="330098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D4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Recém-chegados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5130550" y="3867912"/>
            <a:ext cx="329184" cy="329184"/>
          </a:xfrm>
          <a:prstGeom prst="ellipse">
            <a:avLst/>
          </a:prstGeom>
          <a:solidFill>
            <a:srgbClr val="A6D85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2"/>
          <p:cNvSpPr txBox="1"/>
          <p:nvPr/>
        </p:nvSpPr>
        <p:spPr>
          <a:xfrm>
            <a:off x="5130550" y="3867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5532886" y="386791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F9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Desassistidos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7814890" y="1344168"/>
            <a:ext cx="3739955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8" name="Image 1" descr="/home/claude/work/proj/Imagens/image2_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2322" y="1371600"/>
            <a:ext cx="3685091" cy="3282696"/>
          </a:xfrm>
          <a:prstGeom prst="rect">
            <a:avLst/>
          </a:prstGeom>
        </p:spPr>
      </p:pic>
      <p:sp>
        <p:nvSpPr>
          <p:cNvPr id="39" name="Text 35"/>
          <p:cNvSpPr txBox="1"/>
          <p:nvPr/>
        </p:nvSpPr>
        <p:spPr>
          <a:xfrm>
            <a:off x="7842322" y="4700016"/>
            <a:ext cx="368509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02_clusterizacao · image2_23</a:t>
            </a:r>
            <a:endParaRPr lang="en-US" sz="850" dirty="0"/>
          </a:p>
        </p:txBody>
      </p:sp>
      <p:sp>
        <p:nvSpPr>
          <p:cNvPr id="40" name="Text 36"/>
          <p:cNvSpPr txBox="1"/>
          <p:nvPr/>
        </p:nvSpPr>
        <p:spPr>
          <a:xfrm>
            <a:off x="548640" y="507492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Patrimônio: </a:t>
            </a:r>
            <a:r>
              <a:rPr lang="en-US" sz="13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(0,72) e B (0,59) acima da média; C, D e E cerca de 1,4 desvio-padrão abaixo.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Escolaridade: </a:t>
            </a:r>
            <a:r>
              <a:rPr lang="en-US" sz="13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(0,71) e C (0,62) acima; B (-0,99), D (-0,72) e E (-1,68) abaixo.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Idade: </a:t>
            </a:r>
            <a:r>
              <a:rPr lang="en-US" sz="13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D se afasta de verdade (-1,28): é o grupo jovem.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CLUSTERS — DESAFIO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Desafio: as despesas de campanha como 4ª variável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76656" y="641908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591056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1719072" y="6419088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Descritiva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70632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2898648" y="6419088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de 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087368" y="6487668"/>
            <a:ext cx="91440" cy="91440"/>
          </a:xfrm>
          <a:prstGeom prst="ellipse">
            <a:avLst/>
          </a:prstGeom>
          <a:solidFill>
            <a:srgbClr val="2E7D5B"/>
          </a:solidFill>
          <a:ln w="63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4215384" y="641908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29784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5257800" y="6419088"/>
            <a:ext cx="612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6163056" y="6419088"/>
            <a:ext cx="818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Anomalias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146036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7274052" y="6419088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185855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pic>
        <p:nvPicPr>
          <p:cNvPr id="23" name="Image 1" descr="/home/claude/work/proj/Imagens/imageDe1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6719" y="1033834"/>
            <a:ext cx="3951587" cy="3103826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4895234" y="4105656"/>
            <a:ext cx="342261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desafio_gastos_campanha · imageDe1_2</a:t>
            </a:r>
            <a:endParaRPr lang="en-US" sz="8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41080" y="1417320"/>
          <a:ext cx="3001975" cy="230632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5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Gasto (mediana)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Gastou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8B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Prósperos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R$ 192,7 mil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262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Batalhadores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R$ 74,4 mil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46B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Promissores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R$ 8,3 mil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BD4D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Recém-chegados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R$ 1,3 mil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F9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Desassistidos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6" name="Text 21"/>
          <p:cNvSpPr txBox="1"/>
          <p:nvPr/>
        </p:nvSpPr>
        <p:spPr>
          <a:xfrm>
            <a:off x="8641080" y="3794760"/>
            <a:ext cx="3001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Despesas contratadas até o extrato de 20/09/2026</a:t>
            </a:r>
            <a:endParaRPr lang="en-US" sz="950" dirty="0"/>
          </a:p>
        </p:txBody>
      </p:sp>
      <p:sp>
        <p:nvSpPr>
          <p:cNvPr id="27" name="Text 22"/>
          <p:cNvSpPr txBox="1"/>
          <p:nvPr/>
        </p:nvSpPr>
        <p:spPr>
          <a:xfrm>
            <a:off x="548640" y="452628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657 de 925 </a:t>
            </a:r>
            <a:r>
              <a:rPr lang="en-US" sz="13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tinham contratado despesas (mediana de quem gastou: R$ 181,1 mil).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com o patrimônio: 0,36. </a:t>
            </a:r>
            <a:r>
              <a:rPr lang="en-US" sz="13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gasto é outra dimensão — estrutura de campanha —, não uma cópia dos bens.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grupos com patrimônio gastam mais, </a:t>
            </a:r>
            <a:r>
              <a:rPr lang="en-US" sz="13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há candidatos dos três grupos sem bens com despesas relevantes</a:t>
            </a:r>
            <a:r>
              <a:rPr lang="en-US" sz="13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K-Means com k = 5, a 4ª variável eleva a silhueta de 0,365 para 0,419 </a:t>
            </a:r>
            <a:r>
              <a:rPr lang="en-US" sz="13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reorganiza parte dos grupos. Os clusters oficiais seguem com as 3 variáveis.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CARACTERIZAÇÃO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Sexo, cor/raça e estado civil: quem compõe cada cluster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76656" y="641908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591056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1719072" y="6419088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Descritiva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70632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2898648" y="6419088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de 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087368" y="6487668"/>
            <a:ext cx="91440" cy="91440"/>
          </a:xfrm>
          <a:prstGeom prst="ellipse">
            <a:avLst/>
          </a:prstGeom>
          <a:solidFill>
            <a:srgbClr val="2E7D5B"/>
          </a:solidFill>
          <a:ln w="63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4215384" y="641908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29784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5257800" y="6419088"/>
            <a:ext cx="612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6163056" y="6419088"/>
            <a:ext cx="818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Anomalias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146036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7274052" y="6419088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185855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21208" y="1298448"/>
            <a:ext cx="6542154" cy="480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0" name="Image 0" descr="/home/claude/work/proj/Imagens/image2_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6487290" cy="4745736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548640" y="6117336"/>
            <a:ext cx="648729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02_clusterizacao · image2_25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7498080" y="1463040"/>
            <a:ext cx="414497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Promissores: </a:t>
            </a:r>
            <a:r>
              <a:rPr lang="en-US" sz="135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 grupo com maioria feminina (52%); na base, 39% são mulheres.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Batalhadores: </a:t>
            </a:r>
            <a:r>
              <a:rPr lang="en-US" sz="135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grupo mais masculino (69%) e o mais pardo (65%).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Prósperos: </a:t>
            </a:r>
            <a:r>
              <a:rPr lang="en-US" sz="135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43,2% brancos (média de 32,6%) e 56,5% casados; entre os Batalhadores, só 20% são brancos.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Recém-chegados e Desassistidos: </a:t>
            </a:r>
            <a:r>
              <a:rPr lang="en-US" sz="135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pretos (16% e 18%, contra 11% na base) e indígenas (cerca de 5% em cada, contra 3%); 76% dos Recém-chegados são solteiros.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CARACTERIZAÇÃO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Profissão: as ocupações declaradas confirmam os perfis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76656" y="641908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591056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1719072" y="6419088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Descritiva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70632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2898648" y="6419088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de 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087368" y="6487668"/>
            <a:ext cx="91440" cy="91440"/>
          </a:xfrm>
          <a:prstGeom prst="ellipse">
            <a:avLst/>
          </a:prstGeom>
          <a:solidFill>
            <a:srgbClr val="2E7D5B"/>
          </a:solidFill>
          <a:ln w="63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4215384" y="641908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29784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5257800" y="6419088"/>
            <a:ext cx="612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6163056" y="6419088"/>
            <a:ext cx="818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Anomalias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146036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7274052" y="6419088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185855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7" cy="2416048"/>
        </p:xfrm>
        <a:graphic>
          <a:graphicData uri="http://schemas.openxmlformats.org/drawingml/2006/table">
            <a:tbl>
              <a:tblPr/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3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31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31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31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31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31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4315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4315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4315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Ocupação (agrupada)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Empresa / comércio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Servidor público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Saúde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Direito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Político c/ mandato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Agropecuária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Serviços / ofícios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Estudante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Todos (925)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8B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· Prósperos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D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D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D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D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D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8A3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8A3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8A3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262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· Batalhadores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D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8A3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8A3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8A3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D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46B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· Promissores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D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8A3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D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8A3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BD4D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· Recém-chegados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8A3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8A3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8A3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8A3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8A3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F9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· Desassistidos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8A3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8A3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8A3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8A3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8A3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8A3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548640" y="3931920"/>
            <a:ext cx="256032" cy="182880"/>
          </a:xfrm>
          <a:prstGeom prst="rect">
            <a:avLst/>
          </a:prstGeom>
          <a:solidFill>
            <a:srgbClr val="1E6B4E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 txBox="1"/>
          <p:nvPr/>
        </p:nvSpPr>
        <p:spPr>
          <a:xfrm>
            <a:off x="868680" y="3886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1,8× a média geral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880360" y="3931920"/>
            <a:ext cx="256032" cy="182880"/>
          </a:xfrm>
          <a:prstGeom prst="rect">
            <a:avLst/>
          </a:prstGeom>
          <a:solidFill>
            <a:srgbClr val="8FD1B5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 txBox="1"/>
          <p:nvPr/>
        </p:nvSpPr>
        <p:spPr>
          <a:xfrm>
            <a:off x="3200400" y="3886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1,3× a 1,8×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212080" y="3931920"/>
            <a:ext cx="256032" cy="182880"/>
          </a:xfrm>
          <a:prstGeom prst="rect">
            <a:avLst/>
          </a:prstGeom>
          <a:solidFill>
            <a:srgbClr val="F1F1EF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 txBox="1"/>
          <p:nvPr/>
        </p:nvSpPr>
        <p:spPr>
          <a:xfrm>
            <a:off x="5532120" y="3886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0,6× (sub-representado)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48640" y="4297680"/>
            <a:ext cx="2109155" cy="1920240"/>
          </a:xfrm>
          <a:prstGeom prst="roundRect">
            <a:avLst>
              <a:gd name="adj" fmla="val 3810"/>
            </a:avLst>
          </a:prstGeom>
          <a:solidFill>
            <a:srgbClr val="F6F9F7"/>
          </a:solidFill>
          <a:ln w="6350">
            <a:solidFill>
              <a:srgbClr val="F6F9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4"/>
          <p:cNvSpPr/>
          <p:nvPr/>
        </p:nvSpPr>
        <p:spPr>
          <a:xfrm>
            <a:off x="658368" y="4407408"/>
            <a:ext cx="310896" cy="310896"/>
          </a:xfrm>
          <a:prstGeom prst="ellipse">
            <a:avLst/>
          </a:prstGeom>
          <a:solidFill>
            <a:srgbClr val="66C2A5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 txBox="1"/>
          <p:nvPr/>
        </p:nvSpPr>
        <p:spPr>
          <a:xfrm>
            <a:off x="658368" y="4407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4389120"/>
            <a:ext cx="15605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8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Prósperos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676656" y="4800600"/>
            <a:ext cx="187141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Advogados (48), empresários (34), servidores estaduais (30), médicos (29) e 28 dos 35 deputados atuais.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2794955" y="4297680"/>
            <a:ext cx="2109155" cy="1920240"/>
          </a:xfrm>
          <a:prstGeom prst="roundRect">
            <a:avLst>
              <a:gd name="adj" fmla="val 3810"/>
            </a:avLst>
          </a:prstGeom>
          <a:solidFill>
            <a:srgbClr val="F6F9F7"/>
          </a:solidFill>
          <a:ln w="6350">
            <a:solidFill>
              <a:srgbClr val="F6F9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29"/>
          <p:cNvSpPr/>
          <p:nvPr/>
        </p:nvSpPr>
        <p:spPr>
          <a:xfrm>
            <a:off x="2904683" y="4407408"/>
            <a:ext cx="310896" cy="310896"/>
          </a:xfrm>
          <a:prstGeom prst="ellipse">
            <a:avLst/>
          </a:prstGeom>
          <a:solidFill>
            <a:srgbClr val="FC8D6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0"/>
          <p:cNvSpPr txBox="1"/>
          <p:nvPr/>
        </p:nvSpPr>
        <p:spPr>
          <a:xfrm>
            <a:off x="2904683" y="4407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3270443" y="4389120"/>
            <a:ext cx="15605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2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Batalhadores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2922971" y="4800600"/>
            <a:ext cx="187141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Empresários (33), agricultores (16) e comerciantes (12): patrimônio construído fora do diploma.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5041270" y="4297680"/>
            <a:ext cx="2109155" cy="1920240"/>
          </a:xfrm>
          <a:prstGeom prst="roundRect">
            <a:avLst>
              <a:gd name="adj" fmla="val 3810"/>
            </a:avLst>
          </a:prstGeom>
          <a:solidFill>
            <a:srgbClr val="F6F9F7"/>
          </a:solidFill>
          <a:ln w="6350">
            <a:solidFill>
              <a:srgbClr val="F6F9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Shape 34"/>
          <p:cNvSpPr/>
          <p:nvPr/>
        </p:nvSpPr>
        <p:spPr>
          <a:xfrm>
            <a:off x="5150998" y="4407408"/>
            <a:ext cx="310896" cy="310896"/>
          </a:xfrm>
          <a:prstGeom prst="ellipse">
            <a:avLst/>
          </a:prstGeom>
          <a:solidFill>
            <a:srgbClr val="8DA0C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5"/>
          <p:cNvSpPr txBox="1"/>
          <p:nvPr/>
        </p:nvSpPr>
        <p:spPr>
          <a:xfrm>
            <a:off x="5150998" y="4407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5516758" y="4389120"/>
            <a:ext cx="15605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46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Promissores</a:t>
            </a:r>
            <a:endParaRPr lang="en-US" sz="1150" dirty="0"/>
          </a:p>
        </p:txBody>
      </p:sp>
      <p:sp>
        <p:nvSpPr>
          <p:cNvPr id="40" name="Text 37"/>
          <p:cNvSpPr txBox="1"/>
          <p:nvPr/>
        </p:nvSpPr>
        <p:spPr>
          <a:xfrm>
            <a:off x="5169286" y="4800600"/>
            <a:ext cx="187141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Advogados (19), empresários (16) e professores do ensino médio (9): diploma, mas sem bens declarados.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7287585" y="4297680"/>
            <a:ext cx="2109155" cy="1920240"/>
          </a:xfrm>
          <a:prstGeom prst="roundRect">
            <a:avLst>
              <a:gd name="adj" fmla="val 3810"/>
            </a:avLst>
          </a:prstGeom>
          <a:solidFill>
            <a:srgbClr val="F6F9F7"/>
          </a:solidFill>
          <a:ln w="6350">
            <a:solidFill>
              <a:srgbClr val="F6F9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Shape 39"/>
          <p:cNvSpPr/>
          <p:nvPr/>
        </p:nvSpPr>
        <p:spPr>
          <a:xfrm>
            <a:off x="7397313" y="4407408"/>
            <a:ext cx="310896" cy="310896"/>
          </a:xfrm>
          <a:prstGeom prst="ellipse">
            <a:avLst/>
          </a:prstGeom>
          <a:solidFill>
            <a:srgbClr val="E78AC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Text 40"/>
          <p:cNvSpPr txBox="1"/>
          <p:nvPr/>
        </p:nvSpPr>
        <p:spPr>
          <a:xfrm>
            <a:off x="7397313" y="4407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7763073" y="4389120"/>
            <a:ext cx="15605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D4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Recém-chegados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7415601" y="4800600"/>
            <a:ext cx="187141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estudantes (24% do grupo, contra 4% na base): o nome se confirma.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9533900" y="4297680"/>
            <a:ext cx="2109155" cy="1920240"/>
          </a:xfrm>
          <a:prstGeom prst="roundRect">
            <a:avLst>
              <a:gd name="adj" fmla="val 3810"/>
            </a:avLst>
          </a:prstGeom>
          <a:solidFill>
            <a:srgbClr val="F6F9F7"/>
          </a:solidFill>
          <a:ln w="6350">
            <a:solidFill>
              <a:srgbClr val="F6F9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Shape 44"/>
          <p:cNvSpPr/>
          <p:nvPr/>
        </p:nvSpPr>
        <p:spPr>
          <a:xfrm>
            <a:off x="9643628" y="4407408"/>
            <a:ext cx="310896" cy="310896"/>
          </a:xfrm>
          <a:prstGeom prst="ellipse">
            <a:avLst/>
          </a:prstGeom>
          <a:solidFill>
            <a:srgbClr val="A6D85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Text 45"/>
          <p:cNvSpPr txBox="1"/>
          <p:nvPr/>
        </p:nvSpPr>
        <p:spPr>
          <a:xfrm>
            <a:off x="9643628" y="4407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00" dirty="0"/>
          </a:p>
        </p:txBody>
      </p:sp>
      <p:sp>
        <p:nvSpPr>
          <p:cNvPr id="49" name="Text 46"/>
          <p:cNvSpPr txBox="1"/>
          <p:nvPr/>
        </p:nvSpPr>
        <p:spPr>
          <a:xfrm>
            <a:off x="10009388" y="4389120"/>
            <a:ext cx="15605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F9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Desassistidos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9661916" y="4800600"/>
            <a:ext cx="187141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Ocupação genérica "outros" (20), agricultores (6) e ofícios manuais acima da média.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CARACTERIZAÇÃO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Partido e UF: onde cada perfil aparece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76656" y="641908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591056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1719072" y="6419088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Descritiva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70632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2898648" y="6419088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de 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087368" y="6487668"/>
            <a:ext cx="91440" cy="91440"/>
          </a:xfrm>
          <a:prstGeom prst="ellipse">
            <a:avLst/>
          </a:prstGeom>
          <a:solidFill>
            <a:srgbClr val="2E7D5B"/>
          </a:solidFill>
          <a:ln w="63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4215384" y="641908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29784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5257800" y="6419088"/>
            <a:ext cx="612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6163056" y="6419088"/>
            <a:ext cx="818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Anomalias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146036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7274052" y="6419088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185855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pic>
        <p:nvPicPr>
          <p:cNvPr id="19" name="Image 0" descr="/home/claude/work/proj/Imagens/image2_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11094415" cy="4000784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548640" y="5372384"/>
            <a:ext cx="110944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02_clusterizacao · image2_28 — composição de cluster dentro de cada UF</a:t>
            </a:r>
            <a:endParaRPr lang="en-US" sz="850" dirty="0"/>
          </a:p>
        </p:txBody>
      </p:sp>
      <p:sp>
        <p:nvSpPr>
          <p:cNvPr id="21" name="Text 18"/>
          <p:cNvSpPr txBox="1"/>
          <p:nvPr/>
        </p:nvSpPr>
        <p:spPr>
          <a:xfrm>
            <a:off x="2323746" y="3626331"/>
            <a:ext cx="93193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Partidos mais frequentes em cada cluster (% do cluster)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2323746" y="3973803"/>
            <a:ext cx="1776079" cy="1316285"/>
          </a:xfrm>
          <a:prstGeom prst="roundRect">
            <a:avLst>
              <a:gd name="adj" fmla="val 5557"/>
            </a:avLst>
          </a:prstGeom>
          <a:solidFill>
            <a:srgbClr val="F6F9F7"/>
          </a:solidFill>
          <a:ln w="6350">
            <a:solidFill>
              <a:srgbClr val="F6F9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0"/>
          <p:cNvSpPr/>
          <p:nvPr/>
        </p:nvSpPr>
        <p:spPr>
          <a:xfrm>
            <a:off x="2323746" y="3973803"/>
            <a:ext cx="1776079" cy="64008"/>
          </a:xfrm>
          <a:prstGeom prst="rect">
            <a:avLst/>
          </a:prstGeom>
          <a:solidFill>
            <a:srgbClr val="66C2A5"/>
          </a:solidFill>
          <a:ln w="12700">
            <a:solidFill>
              <a:srgbClr val="66C2A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 txBox="1"/>
          <p:nvPr/>
        </p:nvSpPr>
        <p:spPr>
          <a:xfrm>
            <a:off x="2415186" y="4083531"/>
            <a:ext cx="15931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Prósperos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2415186" y="4394427"/>
            <a:ext cx="1593199" cy="831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 11%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REPUBLICANOS 10%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MDB 9%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209554" y="3973803"/>
            <a:ext cx="1776079" cy="1316285"/>
          </a:xfrm>
          <a:prstGeom prst="roundRect">
            <a:avLst>
              <a:gd name="adj" fmla="val 5557"/>
            </a:avLst>
          </a:prstGeom>
          <a:solidFill>
            <a:srgbClr val="F6F9F7"/>
          </a:solidFill>
          <a:ln w="6350">
            <a:solidFill>
              <a:srgbClr val="F6F9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4"/>
          <p:cNvSpPr/>
          <p:nvPr/>
        </p:nvSpPr>
        <p:spPr>
          <a:xfrm>
            <a:off x="4209554" y="3973803"/>
            <a:ext cx="1776079" cy="64008"/>
          </a:xfrm>
          <a:prstGeom prst="rect">
            <a:avLst/>
          </a:prstGeom>
          <a:solidFill>
            <a:srgbClr val="FC8D62"/>
          </a:solidFill>
          <a:ln w="12700">
            <a:solidFill>
              <a:srgbClr val="FC8D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 txBox="1"/>
          <p:nvPr/>
        </p:nvSpPr>
        <p:spPr>
          <a:xfrm>
            <a:off x="4300994" y="4083531"/>
            <a:ext cx="15931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2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Batalhadores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4300994" y="4394427"/>
            <a:ext cx="1593199" cy="831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10%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9%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PSB 8%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095361" y="3973803"/>
            <a:ext cx="1776079" cy="1316285"/>
          </a:xfrm>
          <a:prstGeom prst="roundRect">
            <a:avLst>
              <a:gd name="adj" fmla="val 5557"/>
            </a:avLst>
          </a:prstGeom>
          <a:solidFill>
            <a:srgbClr val="F6F9F7"/>
          </a:solidFill>
          <a:ln w="6350">
            <a:solidFill>
              <a:srgbClr val="F6F9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8"/>
          <p:cNvSpPr/>
          <p:nvPr/>
        </p:nvSpPr>
        <p:spPr>
          <a:xfrm>
            <a:off x="6095361" y="3973803"/>
            <a:ext cx="1776079" cy="64008"/>
          </a:xfrm>
          <a:prstGeom prst="rect">
            <a:avLst/>
          </a:prstGeom>
          <a:solidFill>
            <a:srgbClr val="8DA0CB"/>
          </a:solidFill>
          <a:ln w="12700">
            <a:solidFill>
              <a:srgbClr val="8DA0C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29"/>
          <p:cNvSpPr txBox="1"/>
          <p:nvPr/>
        </p:nvSpPr>
        <p:spPr>
          <a:xfrm>
            <a:off x="6186801" y="4083531"/>
            <a:ext cx="15931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46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Promissores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6186801" y="4394427"/>
            <a:ext cx="1593199" cy="831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15%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PDT, SOLIDARIEDADE e PODE 9%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7981168" y="3973803"/>
            <a:ext cx="1776079" cy="1316285"/>
          </a:xfrm>
          <a:prstGeom prst="roundRect">
            <a:avLst>
              <a:gd name="adj" fmla="val 5557"/>
            </a:avLst>
          </a:prstGeom>
          <a:solidFill>
            <a:srgbClr val="F6F9F7"/>
          </a:solidFill>
          <a:ln w="6350">
            <a:solidFill>
              <a:srgbClr val="F6F9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32"/>
          <p:cNvSpPr/>
          <p:nvPr/>
        </p:nvSpPr>
        <p:spPr>
          <a:xfrm>
            <a:off x="7981168" y="3973803"/>
            <a:ext cx="1776079" cy="64008"/>
          </a:xfrm>
          <a:prstGeom prst="rect">
            <a:avLst/>
          </a:prstGeom>
          <a:solidFill>
            <a:srgbClr val="E78AC3"/>
          </a:solidFill>
          <a:ln w="12700">
            <a:solidFill>
              <a:srgbClr val="E78AC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3"/>
          <p:cNvSpPr txBox="1"/>
          <p:nvPr/>
        </p:nvSpPr>
        <p:spPr>
          <a:xfrm>
            <a:off x="8072608" y="4083531"/>
            <a:ext cx="15931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D4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Recém-chegados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8072608" y="4394427"/>
            <a:ext cx="1593199" cy="831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MISSÃO 21%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12%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PSOL e DC 8%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9866976" y="3973803"/>
            <a:ext cx="1776079" cy="1316285"/>
          </a:xfrm>
          <a:prstGeom prst="roundRect">
            <a:avLst>
              <a:gd name="adj" fmla="val 5557"/>
            </a:avLst>
          </a:prstGeom>
          <a:solidFill>
            <a:srgbClr val="F6F9F7"/>
          </a:solidFill>
          <a:ln w="6350">
            <a:solidFill>
              <a:srgbClr val="F6F9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Shape 36"/>
          <p:cNvSpPr/>
          <p:nvPr/>
        </p:nvSpPr>
        <p:spPr>
          <a:xfrm>
            <a:off x="9866976" y="3973803"/>
            <a:ext cx="1776079" cy="64008"/>
          </a:xfrm>
          <a:prstGeom prst="rect">
            <a:avLst/>
          </a:prstGeom>
          <a:solidFill>
            <a:srgbClr val="A6D854"/>
          </a:solidFill>
          <a:ln w="12700">
            <a:solidFill>
              <a:srgbClr val="A6D85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7"/>
          <p:cNvSpPr txBox="1"/>
          <p:nvPr/>
        </p:nvSpPr>
        <p:spPr>
          <a:xfrm>
            <a:off x="9958416" y="4083531"/>
            <a:ext cx="15931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F9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Desassistidos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9958416" y="4394427"/>
            <a:ext cx="1593199" cy="831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PSOL 18%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PDT 17%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15%</a:t>
            </a:r>
            <a:endParaRPr lang="en-US" sz="1150" dirty="0"/>
          </a:p>
        </p:txBody>
      </p:sp>
      <p:sp>
        <p:nvSpPr>
          <p:cNvPr id="42" name="Text 39"/>
          <p:cNvSpPr txBox="1"/>
          <p:nvPr/>
        </p:nvSpPr>
        <p:spPr>
          <a:xfrm>
            <a:off x="548640" y="56692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Prósperos são maioria relativa em todos os estados (de 39% no Pará a 52% em Rondônia); Batalhadores pesam mais no Tocantins (37%) e em Rondônia (31%); Promissores, no Amapá (25%) e no Pará (21%).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NOMEAÇÃO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perfis, 5 nomes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76656" y="641908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591056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1719072" y="6419088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Descritiva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70632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2898648" y="6419088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de 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087368" y="6487668"/>
            <a:ext cx="91440" cy="91440"/>
          </a:xfrm>
          <a:prstGeom prst="ellipse">
            <a:avLst/>
          </a:prstGeom>
          <a:solidFill>
            <a:srgbClr val="2E7D5B"/>
          </a:solidFill>
          <a:ln w="63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4215384" y="641908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29784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5257800" y="6419088"/>
            <a:ext cx="612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6163056" y="6419088"/>
            <a:ext cx="818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Anomalias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146036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7274052" y="6419088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185855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1463040"/>
            <a:ext cx="2072579" cy="4754880"/>
          </a:xfrm>
          <a:prstGeom prst="roundRect">
            <a:avLst>
              <a:gd name="adj" fmla="val 3530"/>
            </a:avLst>
          </a:prstGeom>
          <a:solidFill>
            <a:srgbClr val="EEF5F1"/>
          </a:solidFill>
          <a:ln w="6350">
            <a:solidFill>
              <a:srgbClr val="EEF5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548640" y="1463040"/>
            <a:ext cx="2072579" cy="91440"/>
          </a:xfrm>
          <a:prstGeom prst="rect">
            <a:avLst/>
          </a:prstGeom>
          <a:solidFill>
            <a:srgbClr val="66C2A5"/>
          </a:solidFill>
          <a:ln w="12700">
            <a:solidFill>
              <a:srgbClr val="66C2A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731520" y="1737360"/>
            <a:ext cx="502920" cy="502920"/>
          </a:xfrm>
          <a:prstGeom prst="ellipse">
            <a:avLst/>
          </a:prstGeom>
          <a:solidFill>
            <a:srgbClr val="66C2A5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 txBox="1"/>
          <p:nvPr/>
        </p:nvSpPr>
        <p:spPr>
          <a:xfrm>
            <a:off x="7315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1737360"/>
            <a:ext cx="11581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414 · 45%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2377440"/>
            <a:ext cx="17525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E8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Prósperos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3108960"/>
            <a:ext cx="17525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Superior completo e patrimônio: os mais estabelecidos.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4160520"/>
            <a:ext cx="1752539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99,5% com superior completo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bens: mediana de R$ 581,2 mil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idade média de 50 anos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PL, Republicanos e MDB à frente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804099" y="1463040"/>
            <a:ext cx="2072579" cy="4754880"/>
          </a:xfrm>
          <a:prstGeom prst="roundRect">
            <a:avLst>
              <a:gd name="adj" fmla="val 3530"/>
            </a:avLst>
          </a:prstGeom>
          <a:solidFill>
            <a:srgbClr val="EEF5F1"/>
          </a:solidFill>
          <a:ln w="6350">
            <a:solidFill>
              <a:srgbClr val="EEF5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2804099" y="1463040"/>
            <a:ext cx="2072579" cy="91440"/>
          </a:xfrm>
          <a:prstGeom prst="rect">
            <a:avLst/>
          </a:prstGeom>
          <a:solidFill>
            <a:srgbClr val="FC8D62"/>
          </a:solidFill>
          <a:ln w="12700">
            <a:solidFill>
              <a:srgbClr val="FC8D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2986979" y="1737360"/>
            <a:ext cx="502920" cy="502920"/>
          </a:xfrm>
          <a:prstGeom prst="ellipse">
            <a:avLst/>
          </a:prstGeom>
          <a:solidFill>
            <a:srgbClr val="FC8D6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 txBox="1"/>
          <p:nvPr/>
        </p:nvSpPr>
        <p:spPr>
          <a:xfrm>
            <a:off x="2986979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3581339" y="1737360"/>
            <a:ext cx="11581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208 · 22%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2986979" y="2377440"/>
            <a:ext cx="17525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D26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Batalhadores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2986979" y="3108960"/>
            <a:ext cx="17525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Ensino médio e patrimônio conquistado.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2986979" y="4160520"/>
            <a:ext cx="1752539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10,5 anos de estudo em média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bens: mediana de R$ 240,1 mil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69% homens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empresários, agricultores e comerciantes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059558" y="1463040"/>
            <a:ext cx="2072579" cy="4754880"/>
          </a:xfrm>
          <a:prstGeom prst="roundRect">
            <a:avLst>
              <a:gd name="adj" fmla="val 3530"/>
            </a:avLst>
          </a:prstGeom>
          <a:solidFill>
            <a:srgbClr val="EEF5F1"/>
          </a:solidFill>
          <a:ln w="6350">
            <a:solidFill>
              <a:srgbClr val="EEF5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5059558" y="1463040"/>
            <a:ext cx="2072579" cy="91440"/>
          </a:xfrm>
          <a:prstGeom prst="rect">
            <a:avLst/>
          </a:prstGeom>
          <a:solidFill>
            <a:srgbClr val="8DA0CB"/>
          </a:solidFill>
          <a:ln w="12700">
            <a:solidFill>
              <a:srgbClr val="8DA0C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Shape 35"/>
          <p:cNvSpPr/>
          <p:nvPr/>
        </p:nvSpPr>
        <p:spPr>
          <a:xfrm>
            <a:off x="5242438" y="1737360"/>
            <a:ext cx="502920" cy="502920"/>
          </a:xfrm>
          <a:prstGeom prst="ellipse">
            <a:avLst/>
          </a:prstGeom>
          <a:solidFill>
            <a:srgbClr val="8DA0C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 txBox="1"/>
          <p:nvPr/>
        </p:nvSpPr>
        <p:spPr>
          <a:xfrm>
            <a:off x="5242438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>
            <a:off x="5836798" y="1737360"/>
            <a:ext cx="11581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 · 16%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5242438" y="2377440"/>
            <a:ext cx="17525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546B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Promissores</a:t>
            </a:r>
            <a:endParaRPr lang="en-US" sz="2000" dirty="0"/>
          </a:p>
        </p:txBody>
      </p:sp>
      <p:sp>
        <p:nvSpPr>
          <p:cNvPr id="41" name="Text 39"/>
          <p:cNvSpPr txBox="1"/>
          <p:nvPr/>
        </p:nvSpPr>
        <p:spPr>
          <a:xfrm>
            <a:off x="5242438" y="3108960"/>
            <a:ext cx="17525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Diploma, mas ainda sem patrimônio: capital humano alto.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5242438" y="4160520"/>
            <a:ext cx="1752539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 sem bens declarados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 com superior completo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maioria feminina (52%)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NOVO: 15% do grupo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315017" y="1463040"/>
            <a:ext cx="2072579" cy="4754880"/>
          </a:xfrm>
          <a:prstGeom prst="roundRect">
            <a:avLst>
              <a:gd name="adj" fmla="val 3530"/>
            </a:avLst>
          </a:prstGeom>
          <a:solidFill>
            <a:srgbClr val="EEF5F1"/>
          </a:solidFill>
          <a:ln w="6350">
            <a:solidFill>
              <a:srgbClr val="EEF5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>
            <a:off x="7315017" y="1463040"/>
            <a:ext cx="2072579" cy="91440"/>
          </a:xfrm>
          <a:prstGeom prst="rect">
            <a:avLst/>
          </a:prstGeom>
          <a:solidFill>
            <a:srgbClr val="E78AC3"/>
          </a:solidFill>
          <a:ln w="12700">
            <a:solidFill>
              <a:srgbClr val="E78AC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Shape 43"/>
          <p:cNvSpPr/>
          <p:nvPr/>
        </p:nvSpPr>
        <p:spPr>
          <a:xfrm>
            <a:off x="7497897" y="1737360"/>
            <a:ext cx="502920" cy="502920"/>
          </a:xfrm>
          <a:prstGeom prst="ellipse">
            <a:avLst/>
          </a:prstGeom>
          <a:solidFill>
            <a:srgbClr val="E78AC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 txBox="1"/>
          <p:nvPr/>
        </p:nvSpPr>
        <p:spPr>
          <a:xfrm>
            <a:off x="7497897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47" name="Text 45"/>
          <p:cNvSpPr txBox="1"/>
          <p:nvPr/>
        </p:nvSpPr>
        <p:spPr>
          <a:xfrm>
            <a:off x="8092257" y="1737360"/>
            <a:ext cx="11581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· 10%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7497897" y="2377440"/>
            <a:ext cx="17525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BD4D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Recém-chegados</a:t>
            </a:r>
            <a:endParaRPr lang="en-US" sz="2000" dirty="0"/>
          </a:p>
        </p:txBody>
      </p:sp>
      <p:sp>
        <p:nvSpPr>
          <p:cNvPr id="49" name="Text 47"/>
          <p:cNvSpPr txBox="1"/>
          <p:nvPr/>
        </p:nvSpPr>
        <p:spPr>
          <a:xfrm>
            <a:off x="7497897" y="3108960"/>
            <a:ext cx="17525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mais jovens, sem patrimônio: chegando à política.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7497897" y="4160520"/>
            <a:ext cx="1752539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idade média de 33 anos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 sem bens declarados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 solteiros; 22 estudantes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MISSÃO: 21% do grupo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9570476" y="1463040"/>
            <a:ext cx="2072579" cy="4754880"/>
          </a:xfrm>
          <a:prstGeom prst="roundRect">
            <a:avLst>
              <a:gd name="adj" fmla="val 3530"/>
            </a:avLst>
          </a:prstGeom>
          <a:solidFill>
            <a:srgbClr val="EEF5F1"/>
          </a:solidFill>
          <a:ln w="6350">
            <a:solidFill>
              <a:srgbClr val="EEF5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Shape 50"/>
          <p:cNvSpPr/>
          <p:nvPr/>
        </p:nvSpPr>
        <p:spPr>
          <a:xfrm>
            <a:off x="9570476" y="1463040"/>
            <a:ext cx="2072579" cy="91440"/>
          </a:xfrm>
          <a:prstGeom prst="rect">
            <a:avLst/>
          </a:prstGeom>
          <a:solidFill>
            <a:srgbClr val="A6D854"/>
          </a:solidFill>
          <a:ln w="12700">
            <a:solidFill>
              <a:srgbClr val="A6D85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Shape 51"/>
          <p:cNvSpPr/>
          <p:nvPr/>
        </p:nvSpPr>
        <p:spPr>
          <a:xfrm>
            <a:off x="9753356" y="1737360"/>
            <a:ext cx="502920" cy="502920"/>
          </a:xfrm>
          <a:prstGeom prst="ellipse">
            <a:avLst/>
          </a:prstGeom>
          <a:solidFill>
            <a:srgbClr val="A6D85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4" name="Text 52"/>
          <p:cNvSpPr txBox="1"/>
          <p:nvPr/>
        </p:nvSpPr>
        <p:spPr>
          <a:xfrm>
            <a:off x="9753356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800" dirty="0"/>
          </a:p>
        </p:txBody>
      </p:sp>
      <p:sp>
        <p:nvSpPr>
          <p:cNvPr id="55" name="Text 53"/>
          <p:cNvSpPr txBox="1"/>
          <p:nvPr/>
        </p:nvSpPr>
        <p:spPr>
          <a:xfrm>
            <a:off x="10347716" y="1737360"/>
            <a:ext cx="11581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· 7%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9753356" y="2377440"/>
            <a:ext cx="17525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5F9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Desassistidos</a:t>
            </a:r>
            <a:endParaRPr lang="en-US" sz="2000" dirty="0"/>
          </a:p>
        </p:txBody>
      </p:sp>
      <p:sp>
        <p:nvSpPr>
          <p:cNvPr id="57" name="Text 55"/>
          <p:cNvSpPr txBox="1"/>
          <p:nvPr/>
        </p:nvSpPr>
        <p:spPr>
          <a:xfrm>
            <a:off x="9753356" y="3108960"/>
            <a:ext cx="17525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escolaridade, sem patrimônio e mais velhos: o grupo mais vulnerável.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9753356" y="4160520"/>
            <a:ext cx="1752539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8,3 anos de estudo em média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sem bens declarados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idade média de 52 anos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PSOL, PDT e DC à frente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REGRAS DE ASSOCIAÇÃO (APRIORI)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Apriori: o que entrou na cesta de cada candidato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76656" y="641908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591056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1719072" y="6419088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Descritiva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70632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2898648" y="6419088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de 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087368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4215384" y="641908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29784" y="6487668"/>
            <a:ext cx="91440" cy="91440"/>
          </a:xfrm>
          <a:prstGeom prst="ellipse">
            <a:avLst/>
          </a:prstGeom>
          <a:solidFill>
            <a:srgbClr val="2E7D5B"/>
          </a:solidFill>
          <a:ln w="63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5257800" y="6419088"/>
            <a:ext cx="612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6163056" y="6419088"/>
            <a:ext cx="818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Anomalias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146036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7274052" y="6419088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185855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141732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EEF5F1"/>
          </a:solidFill>
          <a:ln w="6350">
            <a:solidFill>
              <a:srgbClr val="EEF5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 txBox="1"/>
          <p:nvPr/>
        </p:nvSpPr>
        <p:spPr>
          <a:xfrm>
            <a:off x="731520" y="1508760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1828800"/>
            <a:ext cx="4709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Partido, gênero, grau de instrução, estado civil, cor/raça, UF de nascimento, UF e cluster: 87 itens. Suporte ≥ 2% → 1.295 conjuntos frequentes e 8.514 regras (lift ≥ 1).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2898648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EEF5F1"/>
          </a:solidFill>
          <a:ln w="6350">
            <a:solidFill>
              <a:srgbClr val="EEF5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 txBox="1"/>
          <p:nvPr/>
        </p:nvSpPr>
        <p:spPr>
          <a:xfrm>
            <a:off x="731520" y="299008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(Parte 2)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3310128"/>
            <a:ext cx="4709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4 variáveis contínuas em faixas por quartil + partido, gênero, cor/raça, UF e cluster: 59 itens. Suporte ≥ 3% (≈ 28 candidatos) → 1.459 conjuntos e 9.872 regras.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379976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F6F9F7"/>
          </a:solidFill>
          <a:ln w="6350">
            <a:solidFill>
              <a:srgbClr val="F6F9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 txBox="1"/>
          <p:nvPr/>
        </p:nvSpPr>
        <p:spPr>
          <a:xfrm>
            <a:off x="731520" y="4471416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cluster é um item da cesta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4791456"/>
            <a:ext cx="4709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isso ele pode aparecer no antecedente (o que vem com o perfil) e no consequente (o que leva ao perfil).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897880" y="1417320"/>
            <a:ext cx="5745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4 variáveis contínuas viram faixas por quartil (desafio)</a:t>
            </a:r>
            <a:endParaRPr lang="en-US" sz="13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97880" y="1783080"/>
          <a:ext cx="5745175" cy="356616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1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Variável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Faixa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Intervalo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E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a 40 anos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E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 a 48 anos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E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 a 55 anos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E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 a 85 anos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Estudo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E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a 11 anos (até médio completo)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E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a 16 anos (superior inc./comp.)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E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a R$ 143,9 mil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E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R$ 145,7 mil a R$ 780,0 mil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E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acima de R$ 782,3 mil (máx. R$ 78,5 mi)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Despesas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E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a R$ 67,0 mil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E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R$ 67,7 mil a R$ 304,7 mil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E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acima de R$ 314,8 mil (máx. R$ 3,0 mi)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30" name="Text 27"/>
          <p:cNvSpPr txBox="1"/>
          <p:nvPr/>
        </p:nvSpPr>
        <p:spPr>
          <a:xfrm>
            <a:off x="5897880" y="5440680"/>
            <a:ext cx="57451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Empates fundem quartis: 59% têm 16 anos de estudo, 32% têm bens zero e 29% despesa zero. Com pd.qcut(duplicates="drop"), estudo fica com 2 faixas e bens e despesas com 3; os rótulos seguem o número real de faixas.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REGRAS — CLUSTER NO CONSEQUENTE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 no consequente: que combinações levam a cada perfil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76656" y="641908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591056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1719072" y="6419088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Descritiva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70632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2898648" y="6419088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de 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087368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4215384" y="641908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29784" y="6487668"/>
            <a:ext cx="91440" cy="91440"/>
          </a:xfrm>
          <a:prstGeom prst="ellipse">
            <a:avLst/>
          </a:prstGeom>
          <a:solidFill>
            <a:srgbClr val="2E7D5B"/>
          </a:solidFill>
          <a:ln w="63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5257800" y="6419088"/>
            <a:ext cx="612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6163056" y="6419088"/>
            <a:ext cx="818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Anomalias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146036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7274052" y="6419088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185855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1417320"/>
            <a:ext cx="11094415" cy="786384"/>
          </a:xfrm>
          <a:prstGeom prst="roundRect">
            <a:avLst>
              <a:gd name="adj" fmla="val 9302"/>
            </a:avLst>
          </a:prstGeom>
          <a:solidFill>
            <a:srgbClr val="F6F9F7"/>
          </a:solidFill>
          <a:ln w="6350">
            <a:solidFill>
              <a:srgbClr val="F6F9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685800" y="1600200"/>
            <a:ext cx="420624" cy="420624"/>
          </a:xfrm>
          <a:prstGeom prst="ellipse">
            <a:avLst/>
          </a:prstGeom>
          <a:solidFill>
            <a:srgbClr val="66C2A5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 txBox="1"/>
          <p:nvPr/>
        </p:nvSpPr>
        <p:spPr>
          <a:xfrm>
            <a:off x="68580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1472184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Q2 (superior)  +  Bens Q3 (acima de R$ 782,3 mil)</a:t>
            </a:r>
            <a:r>
              <a:rPr lang="en-US" sz="13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⟶  </a:t>
            </a:r>
            <a:r>
              <a:rPr lang="en-US" sz="1300" b="1" dirty="0">
                <a:solidFill>
                  <a:srgbClr val="2E8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Prósperos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1837944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 e patrimônio alto: 95% são Prósperos.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275320" y="149047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8275320" y="185623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confiança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9372600" y="149047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2,1×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9372600" y="185623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0469880" y="149047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178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10469880" y="185623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2267712"/>
            <a:ext cx="11094415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685800" y="2450592"/>
            <a:ext cx="420624" cy="420624"/>
          </a:xfrm>
          <a:prstGeom prst="ellipse">
            <a:avLst/>
          </a:prstGeom>
          <a:solidFill>
            <a:srgbClr val="FC8D6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 txBox="1"/>
          <p:nvPr/>
        </p:nvSpPr>
        <p:spPr>
          <a:xfrm>
            <a:off x="685800" y="24505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1234440" y="2322576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Q1 (até médio)  +  Bens Q2 (R$ 145,7 mil a R$ 780,0 mil)</a:t>
            </a:r>
            <a:r>
              <a:rPr lang="en-US" sz="13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⟶  </a:t>
            </a:r>
            <a:r>
              <a:rPr lang="en-US" sz="1300" b="1" dirty="0">
                <a:solidFill>
                  <a:srgbClr val="D2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Batalhadores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234440" y="2688336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diploma e com patrimônio intermediário: todos são Batalhadores.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8275320" y="234086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8275320" y="270662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confiança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372600" y="234086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4,4×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9372600" y="270662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10469880" y="234086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</a:t>
            </a:r>
            <a:endParaRPr lang="en-US" sz="1800" dirty="0"/>
          </a:p>
        </p:txBody>
      </p:sp>
      <p:sp>
        <p:nvSpPr>
          <p:cNvPr id="40" name="Text 38"/>
          <p:cNvSpPr txBox="1"/>
          <p:nvPr/>
        </p:nvSpPr>
        <p:spPr>
          <a:xfrm>
            <a:off x="10469880" y="270662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3118104"/>
            <a:ext cx="11094415" cy="786384"/>
          </a:xfrm>
          <a:prstGeom prst="roundRect">
            <a:avLst>
              <a:gd name="adj" fmla="val 9302"/>
            </a:avLst>
          </a:prstGeom>
          <a:solidFill>
            <a:srgbClr val="F6F9F7"/>
          </a:solidFill>
          <a:ln w="6350">
            <a:solidFill>
              <a:srgbClr val="F6F9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Shape 40"/>
          <p:cNvSpPr/>
          <p:nvPr/>
        </p:nvSpPr>
        <p:spPr>
          <a:xfrm>
            <a:off x="685800" y="3300984"/>
            <a:ext cx="420624" cy="420624"/>
          </a:xfrm>
          <a:prstGeom prst="ellipse">
            <a:avLst/>
          </a:prstGeom>
          <a:solidFill>
            <a:srgbClr val="8DA0C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 txBox="1"/>
          <p:nvPr/>
        </p:nvSpPr>
        <p:spPr>
          <a:xfrm>
            <a:off x="685800" y="3300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1234440" y="317296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Q2 (superior)  +  Bens Q1 (até R$ 143,9 mil)</a:t>
            </a:r>
            <a:r>
              <a:rPr lang="en-US" sz="13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⟶  </a:t>
            </a:r>
            <a:r>
              <a:rPr lang="en-US" sz="1300" b="1" dirty="0">
                <a:solidFill>
                  <a:srgbClr val="546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Promissores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1234440" y="3538728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 com pouco ou nenhum bem: metade é Promissor (3,3 vezes o peso do grupo).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8275320" y="319125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52%</a:t>
            </a:r>
            <a:endParaRPr lang="en-US" sz="1800" dirty="0"/>
          </a:p>
        </p:txBody>
      </p:sp>
      <p:sp>
        <p:nvSpPr>
          <p:cNvPr id="47" name="Text 45"/>
          <p:cNvSpPr txBox="1"/>
          <p:nvPr/>
        </p:nvSpPr>
        <p:spPr>
          <a:xfrm>
            <a:off x="8275320" y="355701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confiança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9372600" y="319125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3,3×</a:t>
            </a:r>
            <a:endParaRPr lang="en-US" sz="1800" dirty="0"/>
          </a:p>
        </p:txBody>
      </p:sp>
      <p:sp>
        <p:nvSpPr>
          <p:cNvPr id="49" name="Text 47"/>
          <p:cNvSpPr txBox="1"/>
          <p:nvPr/>
        </p:nvSpPr>
        <p:spPr>
          <a:xfrm>
            <a:off x="9372600" y="355701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10469880" y="319125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144</a:t>
            </a:r>
            <a:endParaRPr lang="en-US" sz="1800" dirty="0"/>
          </a:p>
        </p:txBody>
      </p:sp>
      <p:sp>
        <p:nvSpPr>
          <p:cNvPr id="51" name="Text 49"/>
          <p:cNvSpPr txBox="1"/>
          <p:nvPr/>
        </p:nvSpPr>
        <p:spPr>
          <a:xfrm>
            <a:off x="10469880" y="355701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48640" y="3968496"/>
            <a:ext cx="11094415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Shape 51"/>
          <p:cNvSpPr/>
          <p:nvPr/>
        </p:nvSpPr>
        <p:spPr>
          <a:xfrm>
            <a:off x="685800" y="4151376"/>
            <a:ext cx="420624" cy="420624"/>
          </a:xfrm>
          <a:prstGeom prst="ellipse">
            <a:avLst/>
          </a:prstGeom>
          <a:solidFill>
            <a:srgbClr val="E78AC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4" name="Text 52"/>
          <p:cNvSpPr txBox="1"/>
          <p:nvPr/>
        </p:nvSpPr>
        <p:spPr>
          <a:xfrm>
            <a:off x="685800" y="4151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55" name="Text 53"/>
          <p:cNvSpPr txBox="1"/>
          <p:nvPr/>
        </p:nvSpPr>
        <p:spPr>
          <a:xfrm>
            <a:off x="1234440" y="402336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Q1 (até médio)  +  Idade Q1 (21 a 40 anos)</a:t>
            </a:r>
            <a:r>
              <a:rPr lang="en-US" sz="13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⟶  </a:t>
            </a:r>
            <a:r>
              <a:rPr lang="en-US" sz="1300" b="1" dirty="0">
                <a:solidFill>
                  <a:srgbClr val="BD4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Recém-chegados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1234440" y="438912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Jovem e sem diploma: 63% são Recém-chegados — o maior lift de todas as regras de cluster.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8275320" y="404164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63%</a:t>
            </a:r>
            <a:endParaRPr lang="en-US" sz="1800" dirty="0"/>
          </a:p>
        </p:txBody>
      </p:sp>
      <p:sp>
        <p:nvSpPr>
          <p:cNvPr id="58" name="Text 56"/>
          <p:cNvSpPr txBox="1"/>
          <p:nvPr/>
        </p:nvSpPr>
        <p:spPr>
          <a:xfrm>
            <a:off x="8275320" y="4407408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confiança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9372600" y="404164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6,3×</a:t>
            </a:r>
            <a:endParaRPr lang="en-US" sz="1800" dirty="0"/>
          </a:p>
        </p:txBody>
      </p:sp>
      <p:sp>
        <p:nvSpPr>
          <p:cNvPr id="60" name="Text 58"/>
          <p:cNvSpPr txBox="1"/>
          <p:nvPr/>
        </p:nvSpPr>
        <p:spPr>
          <a:xfrm>
            <a:off x="9372600" y="4407408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</a:t>
            </a: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10469880" y="404164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</a:t>
            </a:r>
            <a:endParaRPr lang="en-US" sz="1800" dirty="0"/>
          </a:p>
        </p:txBody>
      </p:sp>
      <p:sp>
        <p:nvSpPr>
          <p:cNvPr id="62" name="Text 60"/>
          <p:cNvSpPr txBox="1"/>
          <p:nvPr/>
        </p:nvSpPr>
        <p:spPr>
          <a:xfrm>
            <a:off x="10469880" y="4407408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candidatos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48640" y="4818888"/>
            <a:ext cx="11094415" cy="786384"/>
          </a:xfrm>
          <a:prstGeom prst="roundRect">
            <a:avLst>
              <a:gd name="adj" fmla="val 9302"/>
            </a:avLst>
          </a:prstGeom>
          <a:solidFill>
            <a:srgbClr val="F6F9F7"/>
          </a:solidFill>
          <a:ln w="6350">
            <a:solidFill>
              <a:srgbClr val="F6F9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4" name="Shape 62"/>
          <p:cNvSpPr/>
          <p:nvPr/>
        </p:nvSpPr>
        <p:spPr>
          <a:xfrm>
            <a:off x="685800" y="5001768"/>
            <a:ext cx="420624" cy="420624"/>
          </a:xfrm>
          <a:prstGeom prst="ellipse">
            <a:avLst/>
          </a:prstGeom>
          <a:solidFill>
            <a:srgbClr val="A6D85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5" name="Text 63"/>
          <p:cNvSpPr txBox="1"/>
          <p:nvPr/>
        </p:nvSpPr>
        <p:spPr>
          <a:xfrm>
            <a:off x="685800" y="5001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500" dirty="0"/>
          </a:p>
        </p:txBody>
      </p:sp>
      <p:sp>
        <p:nvSpPr>
          <p:cNvPr id="66" name="Text 64"/>
          <p:cNvSpPr txBox="1"/>
          <p:nvPr/>
        </p:nvSpPr>
        <p:spPr>
          <a:xfrm>
            <a:off x="1234440" y="487375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Q1 (até médio)  +  Idade Q3 (49 a 55 anos)</a:t>
            </a:r>
            <a:r>
              <a:rPr lang="en-US" sz="13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⟶  </a:t>
            </a:r>
            <a:r>
              <a:rPr lang="en-US" sz="1300" b="1" dirty="0">
                <a:solidFill>
                  <a:srgbClr val="5F9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Desassistidos</a:t>
            </a:r>
            <a:endParaRPr lang="en-US" sz="1300" dirty="0"/>
          </a:p>
        </p:txBody>
      </p:sp>
      <p:sp>
        <p:nvSpPr>
          <p:cNvPr id="67" name="Text 65"/>
          <p:cNvSpPr txBox="1"/>
          <p:nvPr/>
        </p:nvSpPr>
        <p:spPr>
          <a:xfrm>
            <a:off x="1234440" y="523951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o ensino médio, entre 49 e 55 anos: 44% são Desassistidos (6,2 vezes o esperado).</a:t>
            </a:r>
            <a:endParaRPr lang="en-US" sz="1100" dirty="0"/>
          </a:p>
        </p:txBody>
      </p:sp>
      <p:sp>
        <p:nvSpPr>
          <p:cNvPr id="68" name="Text 66"/>
          <p:cNvSpPr txBox="1"/>
          <p:nvPr/>
        </p:nvSpPr>
        <p:spPr>
          <a:xfrm>
            <a:off x="8275320" y="48920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44%</a:t>
            </a:r>
            <a:endParaRPr lang="en-US" sz="1800" dirty="0"/>
          </a:p>
        </p:txBody>
      </p:sp>
      <p:sp>
        <p:nvSpPr>
          <p:cNvPr id="69" name="Text 67"/>
          <p:cNvSpPr txBox="1"/>
          <p:nvPr/>
        </p:nvSpPr>
        <p:spPr>
          <a:xfrm>
            <a:off x="8275320" y="525780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confiança</a:t>
            </a:r>
            <a:endParaRPr lang="en-US" sz="1000" dirty="0"/>
          </a:p>
        </p:txBody>
      </p:sp>
      <p:sp>
        <p:nvSpPr>
          <p:cNvPr id="70" name="Text 68"/>
          <p:cNvSpPr txBox="1"/>
          <p:nvPr/>
        </p:nvSpPr>
        <p:spPr>
          <a:xfrm>
            <a:off x="9372600" y="48920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6,2×</a:t>
            </a:r>
            <a:endParaRPr lang="en-US" sz="1800" dirty="0"/>
          </a:p>
        </p:txBody>
      </p:sp>
      <p:sp>
        <p:nvSpPr>
          <p:cNvPr id="71" name="Text 69"/>
          <p:cNvSpPr txBox="1"/>
          <p:nvPr/>
        </p:nvSpPr>
        <p:spPr>
          <a:xfrm>
            <a:off x="9372600" y="525780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</a:t>
            </a:r>
            <a:endParaRPr lang="en-US" sz="1000" dirty="0"/>
          </a:p>
        </p:txBody>
      </p:sp>
      <p:sp>
        <p:nvSpPr>
          <p:cNvPr id="72" name="Text 70"/>
          <p:cNvSpPr txBox="1"/>
          <p:nvPr/>
        </p:nvSpPr>
        <p:spPr>
          <a:xfrm>
            <a:off x="10469880" y="48920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1800" dirty="0"/>
          </a:p>
        </p:txBody>
      </p:sp>
      <p:sp>
        <p:nvSpPr>
          <p:cNvPr id="73" name="Text 71"/>
          <p:cNvSpPr txBox="1"/>
          <p:nvPr/>
        </p:nvSpPr>
        <p:spPr>
          <a:xfrm>
            <a:off x="10469880" y="525780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candidatos</a:t>
            </a:r>
            <a:endParaRPr lang="en-US" sz="1000" dirty="0"/>
          </a:p>
        </p:txBody>
      </p:sp>
      <p:sp>
        <p:nvSpPr>
          <p:cNvPr id="74" name="Text 72"/>
          <p:cNvSpPr txBox="1"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ler: confiança = P(cluster | características); lift = confiança ÷ peso do cluster na base (1 = independente). Por cluster, a regra de maior lift da cesta do desafio (suporte ≥ 3%, até 2 itens no antecedente).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REGRAS — CLUSTER NO ANTECEDENTE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 no antecedente: o que vem junto com cada perfil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76656" y="641908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591056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1719072" y="6419088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Descritiva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70632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2898648" y="6419088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de 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087368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4215384" y="641908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29784" y="6487668"/>
            <a:ext cx="91440" cy="91440"/>
          </a:xfrm>
          <a:prstGeom prst="ellipse">
            <a:avLst/>
          </a:prstGeom>
          <a:solidFill>
            <a:srgbClr val="2E7D5B"/>
          </a:solidFill>
          <a:ln w="63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5257800" y="6419088"/>
            <a:ext cx="612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6163056" y="6419088"/>
            <a:ext cx="818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Anomalias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146036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7274052" y="6419088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185855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13716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Faixas das variáveis (cesta do desafio)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1371600"/>
            <a:ext cx="4327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do candidato (cesta da Fase 3)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1691640"/>
            <a:ext cx="11094415" cy="731520"/>
          </a:xfrm>
          <a:prstGeom prst="roundRect">
            <a:avLst>
              <a:gd name="adj" fmla="val 10000"/>
            </a:avLst>
          </a:prstGeom>
          <a:solidFill>
            <a:srgbClr val="F6F9F7"/>
          </a:solidFill>
          <a:ln w="6350">
            <a:solidFill>
              <a:srgbClr val="F6F9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658368" y="1856232"/>
            <a:ext cx="402336" cy="402336"/>
          </a:xfrm>
          <a:prstGeom prst="ellipse">
            <a:avLst/>
          </a:prstGeom>
          <a:solidFill>
            <a:srgbClr val="66C2A5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 txBox="1"/>
          <p:nvPr/>
        </p:nvSpPr>
        <p:spPr>
          <a:xfrm>
            <a:off x="658368" y="1856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33856" y="169164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Prósperos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2788920" y="176479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  </a:t>
            </a:r>
            <a:r>
              <a:rPr lang="en-US" sz="125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Bens Q3 (acima de R$ 782,3 mil)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2788920" y="209397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 do grupo · lift 1,7 · 178 candidatos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406640" y="1764792"/>
            <a:ext cx="41449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  </a:t>
            </a:r>
            <a:r>
              <a:rPr lang="en-US" sz="125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partido MDB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7406640" y="2093976"/>
            <a:ext cx="4144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 do grupo · lift 1,6 · 39 candidatos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2496312"/>
            <a:ext cx="11094415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658368" y="2660904"/>
            <a:ext cx="402336" cy="402336"/>
          </a:xfrm>
          <a:prstGeom prst="ellipse">
            <a:avLst/>
          </a:prstGeom>
          <a:solidFill>
            <a:srgbClr val="FC8D6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 txBox="1"/>
          <p:nvPr/>
        </p:nvSpPr>
        <p:spPr>
          <a:xfrm>
            <a:off x="658368" y="26609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133856" y="2496312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2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Batalhadores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2788920" y="2569464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  </a:t>
            </a:r>
            <a:r>
              <a:rPr lang="en-US" sz="125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Q1 (até médio)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2788920" y="289864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 do grupo · lift 2,5 · 160 candidatos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7406640" y="2569464"/>
            <a:ext cx="41449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  </a:t>
            </a:r>
            <a:r>
              <a:rPr lang="en-US" sz="125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nasceu em TO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7406640" y="2898648"/>
            <a:ext cx="4144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do grupo · lift 2,0 · 22 candidatos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3300984"/>
            <a:ext cx="11094415" cy="731520"/>
          </a:xfrm>
          <a:prstGeom prst="roundRect">
            <a:avLst>
              <a:gd name="adj" fmla="val 10000"/>
            </a:avLst>
          </a:prstGeom>
          <a:solidFill>
            <a:srgbClr val="F6F9F7"/>
          </a:solidFill>
          <a:ln w="6350">
            <a:solidFill>
              <a:srgbClr val="F6F9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Shape 36"/>
          <p:cNvSpPr/>
          <p:nvPr/>
        </p:nvSpPr>
        <p:spPr>
          <a:xfrm>
            <a:off x="658368" y="3465576"/>
            <a:ext cx="402336" cy="402336"/>
          </a:xfrm>
          <a:prstGeom prst="ellipse">
            <a:avLst/>
          </a:prstGeom>
          <a:solidFill>
            <a:srgbClr val="8DA0C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 txBox="1"/>
          <p:nvPr/>
        </p:nvSpPr>
        <p:spPr>
          <a:xfrm>
            <a:off x="658368" y="34655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1133856" y="3300984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46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Promissores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2788920" y="3374136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  </a:t>
            </a:r>
            <a:r>
              <a:rPr lang="en-US" sz="125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Bens Q1 (até R$ 143,9 mil)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2788920" y="37033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do grupo · lift 2,0 · 145 candidatos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7406640" y="3374136"/>
            <a:ext cx="41449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  </a:t>
            </a:r>
            <a:r>
              <a:rPr lang="en-US" sz="125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partido NOVO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7406640" y="3703320"/>
            <a:ext cx="4144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do grupo · lift 2,4 · 22 candidatos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48640" y="4105656"/>
            <a:ext cx="11094415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Shape 44"/>
          <p:cNvSpPr/>
          <p:nvPr/>
        </p:nvSpPr>
        <p:spPr>
          <a:xfrm>
            <a:off x="658368" y="4270248"/>
            <a:ext cx="402336" cy="402336"/>
          </a:xfrm>
          <a:prstGeom prst="ellipse">
            <a:avLst/>
          </a:prstGeom>
          <a:solidFill>
            <a:srgbClr val="E78AC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 txBox="1"/>
          <p:nvPr/>
        </p:nvSpPr>
        <p:spPr>
          <a:xfrm>
            <a:off x="658368" y="4270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1133856" y="4105656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D4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Recém-chegados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2788920" y="417880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  </a:t>
            </a:r>
            <a:r>
              <a:rPr lang="en-US" sz="125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Idade Q1 (21 a 40 anos)</a:t>
            </a:r>
            <a:endParaRPr lang="en-US" sz="1250" dirty="0"/>
          </a:p>
        </p:txBody>
      </p:sp>
      <p:sp>
        <p:nvSpPr>
          <p:cNvPr id="50" name="Text 48"/>
          <p:cNvSpPr txBox="1"/>
          <p:nvPr/>
        </p:nvSpPr>
        <p:spPr>
          <a:xfrm>
            <a:off x="2788920" y="450799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 do grupo · lift 3,3 · 79 candidatos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7406640" y="4178808"/>
            <a:ext cx="41449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  </a:t>
            </a:r>
            <a:r>
              <a:rPr lang="en-US" sz="125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partido MISSÃO</a:t>
            </a:r>
            <a:endParaRPr lang="en-US" sz="1250" dirty="0"/>
          </a:p>
        </p:txBody>
      </p:sp>
      <p:sp>
        <p:nvSpPr>
          <p:cNvPr id="52" name="Text 50"/>
          <p:cNvSpPr txBox="1"/>
          <p:nvPr/>
        </p:nvSpPr>
        <p:spPr>
          <a:xfrm>
            <a:off x="7406640" y="4507992"/>
            <a:ext cx="4144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 do grupo · lift 5,3 · 19 candidatos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48640" y="4910328"/>
            <a:ext cx="11094415" cy="731520"/>
          </a:xfrm>
          <a:prstGeom prst="roundRect">
            <a:avLst>
              <a:gd name="adj" fmla="val 10000"/>
            </a:avLst>
          </a:prstGeom>
          <a:solidFill>
            <a:srgbClr val="F6F9F7"/>
          </a:solidFill>
          <a:ln w="6350">
            <a:solidFill>
              <a:srgbClr val="F6F9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4" name="Shape 52"/>
          <p:cNvSpPr/>
          <p:nvPr/>
        </p:nvSpPr>
        <p:spPr>
          <a:xfrm>
            <a:off x="658368" y="5074920"/>
            <a:ext cx="402336" cy="402336"/>
          </a:xfrm>
          <a:prstGeom prst="ellipse">
            <a:avLst/>
          </a:prstGeom>
          <a:solidFill>
            <a:srgbClr val="A6D85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5" name="Text 53"/>
          <p:cNvSpPr txBox="1"/>
          <p:nvPr/>
        </p:nvSpPr>
        <p:spPr>
          <a:xfrm>
            <a:off x="658368" y="5074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1133856" y="4910328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9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Desassistidos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2788920" y="498348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  </a:t>
            </a:r>
            <a:r>
              <a:rPr lang="en-US" sz="125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Q1 (até médio)</a:t>
            </a:r>
            <a:endParaRPr lang="en-US" sz="1250" dirty="0"/>
          </a:p>
        </p:txBody>
      </p:sp>
      <p:sp>
        <p:nvSpPr>
          <p:cNvPr id="58" name="Text 56"/>
          <p:cNvSpPr txBox="1"/>
          <p:nvPr/>
        </p:nvSpPr>
        <p:spPr>
          <a:xfrm>
            <a:off x="2788920" y="531266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do grupo · lift 3,2 · 66 candidatos</a:t>
            </a:r>
            <a:endParaRPr lang="en-US" sz="1100" dirty="0"/>
          </a:p>
        </p:txBody>
      </p:sp>
      <p:sp>
        <p:nvSpPr>
          <p:cNvPr id="59" name="Text 57"/>
          <p:cNvSpPr txBox="1"/>
          <p:nvPr/>
        </p:nvSpPr>
        <p:spPr>
          <a:xfrm>
            <a:off x="7406640" y="4983480"/>
            <a:ext cx="41449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  </a:t>
            </a:r>
            <a:r>
              <a:rPr lang="en-US" sz="125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solteiro(a)</a:t>
            </a:r>
            <a:endParaRPr lang="en-US" sz="1250" dirty="0"/>
          </a:p>
        </p:txBody>
      </p:sp>
      <p:sp>
        <p:nvSpPr>
          <p:cNvPr id="60" name="Text 58"/>
          <p:cNvSpPr txBox="1"/>
          <p:nvPr/>
        </p:nvSpPr>
        <p:spPr>
          <a:xfrm>
            <a:off x="7406640" y="5312664"/>
            <a:ext cx="4144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 do grupo · lift 1,3 · 34 candidatos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548640" y="57607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ler: confiança = P(característica | cluster); lift = quantas vezes a característica é mais frequente no cluster do que na base. Faixas: cesta do desafio (suporte ≥ 3%); atributos: cesta da Fase 3 (suporte ≥ 2%, sem o grau de instrução, que é variável da clusterização).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VALIDAÇÃO DOS PERFIS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regras confirmam os nomes?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76656" y="641908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591056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1719072" y="6419088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Descritiva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70632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2898648" y="6419088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de 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087368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4215384" y="641908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29784" y="6487668"/>
            <a:ext cx="91440" cy="91440"/>
          </a:xfrm>
          <a:prstGeom prst="ellipse">
            <a:avLst/>
          </a:prstGeom>
          <a:solidFill>
            <a:srgbClr val="2E7D5B"/>
          </a:solidFill>
          <a:ln w="63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5257800" y="6419088"/>
            <a:ext cx="612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6163056" y="6419088"/>
            <a:ext cx="818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Anomalias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146036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7274052" y="6419088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185855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4041648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2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3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as regras mostram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Veredito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8B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· Prósperos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Superior + bens acima de R$ 782,3 mil → Prósperos (95%); 43% do grupo está na faixa mais alta de bens (lift 1,7) e 99,5% tem superior.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262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· Batalhadores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Até o médio + bens intermediários → Batalhadores (100%, lift 4,4); 77% do grupo não tem superior (lift 2,5).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46B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· Promissores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Superior + bens até R$ 143,9 mil → Promissores (52%, lift 3,3); 100% do grupo está na menor faixa de bens. O "promissor" é interpretação: as regras mostram o diploma, não o futuro.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BD4D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· Recém-chegados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Jovem (21 a 40) + até o médio → Recém-chegados (63%, lift 6,3); 86% do grupo está na faixa mais jovem e o MISSÃO aparece com lift 5,3.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F9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· Desassistidos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do grupo está na faixa "até médio" e na menor faixa de bens; mas a faixa de estudo tem só 2 níveis e não separa fundamental de médio — metade do grupo tem médio completo.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45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 com ressalva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Text 17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duas direções, as regras reproduzem a lógica dos nomes: patrimônio × escolaridade define Prósperos, Batalhadores e Promissores; a idade separa Recém-chegados de Desassistidos.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ISOLATION FOREST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Isolation Forest: quem é isolado com poucos cortes é atípico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76656" y="641908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591056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1719072" y="6419088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Descritiva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70632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2898648" y="6419088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de 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087368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4215384" y="641908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29784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5257800" y="6419088"/>
            <a:ext cx="612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6487668"/>
            <a:ext cx="91440" cy="91440"/>
          </a:xfrm>
          <a:prstGeom prst="ellipse">
            <a:avLst/>
          </a:prstGeom>
          <a:solidFill>
            <a:srgbClr val="2E7D5B"/>
          </a:solidFill>
          <a:ln w="63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6163056" y="6419088"/>
            <a:ext cx="818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Anomalias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146036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7274052" y="6419088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185855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21208" y="1344168"/>
            <a:ext cx="7607808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0" name="Image 0" descr="/home/claude/work/proj/Imagens/imageanom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7552944" cy="2157984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548640" y="3575304"/>
            <a:ext cx="7552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04_deteccao_anomalias_CERTO · imageanom_3 — dados fictícios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8503920" y="1417320"/>
            <a:ext cx="313913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árvore corta o espaço com uma variável e um ponto de corte aleatórios, até isolar cada ponto.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isolado em poucos cortes = atípico; ponto em região densa precisa de muitos cortes.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score é a média do caminho nas 200 árvores: não mede distância nem supõe uma forma para o "normal".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21208" y="3904488"/>
            <a:ext cx="5138928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4" name="Image 1" descr="/home/claude/work/proj/Imagens/imageanom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931920"/>
            <a:ext cx="5084064" cy="2157984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9B8DDD87-FAF5-536C-6935-95976D1669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0448" y="3813048"/>
            <a:ext cx="4115426" cy="291697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ISOLATION FOREST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Contaminação de 5%, escolhida por varredura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76656" y="641908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591056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1719072" y="6419088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Descritiva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70632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2898648" y="6419088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de 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087368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4215384" y="641908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29784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5257800" y="6419088"/>
            <a:ext cx="612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6487668"/>
            <a:ext cx="91440" cy="91440"/>
          </a:xfrm>
          <a:prstGeom prst="ellipse">
            <a:avLst/>
          </a:prstGeom>
          <a:solidFill>
            <a:srgbClr val="2E7D5B"/>
          </a:solidFill>
          <a:ln w="63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6163056" y="6419088"/>
            <a:ext cx="818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Anomalias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146036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7274052" y="6419088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185855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146304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contaminação é a fração que esperamos ser anômala: uma suposição do analista, não algo medido nos dados.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Mesmas 3 variáveis e escala da clusterização; 200 árvores; semente 42.</a:t>
            </a:r>
            <a:endParaRPr lang="en-US" sz="13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71800"/>
          <a:ext cx="4937760" cy="65836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contamination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sinalizados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548640" y="3840480"/>
            <a:ext cx="4937760" cy="2377440"/>
          </a:xfrm>
          <a:prstGeom prst="roundRect">
            <a:avLst>
              <a:gd name="adj" fmla="val 3077"/>
            </a:avLst>
          </a:prstGeom>
          <a:solidFill>
            <a:srgbClr val="EEF5F1"/>
          </a:solidFill>
          <a:ln w="6350">
            <a:solidFill>
              <a:srgbClr val="EEF5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 txBox="1"/>
          <p:nvPr/>
        </p:nvSpPr>
        <p:spPr>
          <a:xfrm>
            <a:off x="731520" y="3913632"/>
            <a:ext cx="4572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 </a:t>
            </a:r>
            <a:r>
              <a:rPr lang="en-US" sz="12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modo "auto" marca 296 candidatos (32%): um em cada três, alto demais para ser útil. Com 5%, são 47 candidatos — pequeno o bastante para examinar um a um. A lista é estável: entre 10 sementes, a sobreposição média é de 82% (índice de Jaccard).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5943600" y="1417320"/>
            <a:ext cx="5699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Candidatos sinalizados como atípicos, por contaminação</a:t>
            </a:r>
            <a:endParaRPr lang="en-US" sz="1400" dirty="0"/>
          </a:p>
        </p:txBody>
      </p:sp>
      <p:graphicFrame>
        <p:nvGraphicFramePr>
          <p:cNvPr id="24" name="Chart 0"/>
          <p:cNvGraphicFramePr/>
          <p:nvPr/>
        </p:nvGraphicFramePr>
        <p:xfrm>
          <a:off x="5852160" y="1783080"/>
          <a:ext cx="5790895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Text 21"/>
          <p:cNvSpPr txBox="1"/>
          <p:nvPr/>
        </p:nvSpPr>
        <p:spPr>
          <a:xfrm>
            <a:off x="5943600" y="6035040"/>
            <a:ext cx="56994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925 candidatos · notebook 04, varredura da contaminação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ANOMALIAS NA BASE INTEIRA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base inteira, o atípico é a baixa escolaridade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76656" y="641908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591056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1719072" y="6419088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Descritiva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70632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2898648" y="6419088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de 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087368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4215384" y="641908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29784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5257800" y="6419088"/>
            <a:ext cx="612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6487668"/>
            <a:ext cx="91440" cy="91440"/>
          </a:xfrm>
          <a:prstGeom prst="ellipse">
            <a:avLst/>
          </a:prstGeom>
          <a:solidFill>
            <a:srgbClr val="2E7D5B"/>
          </a:solidFill>
          <a:ln w="63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6163056" y="6419088"/>
            <a:ext cx="818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Anomalias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146036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7274052" y="6419088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185855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13258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181965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candidatos atípicos (5,1% da base)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22585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275234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têm no máximo o ensino fundamental completo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19125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 + 19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68503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Batalhadores e Desassistidos (29% dos Desassistidos)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297081" y="1298448"/>
            <a:ext cx="7209414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6" name="Image 0" descr="/home/claude/work/proj/Imagens/imageanom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513" y="1325880"/>
            <a:ext cx="7154550" cy="2962656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4324513" y="4334256"/>
            <a:ext cx="715455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04_deteccao_anomalias_CERTO · imageanom_1</a:t>
            </a:r>
            <a:endParaRPr lang="en-US" sz="8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17720"/>
          <a:ext cx="11091672" cy="1536192"/>
        </p:xfrm>
        <a:graphic>
          <a:graphicData uri="http://schemas.openxmlformats.org/drawingml/2006/table">
            <a:tbl>
              <a:tblPr/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050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Candidato (nome de urna)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UF · partido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Escolaridade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que é atípico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CHICO SOMBRA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 · PSB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lê e escreve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R$ 505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262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Batalhadores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lê e escreve: só 7 na base · 76 anos · patrimônio de R$ 505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MARINILDA NASCIMENTO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 · 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lê e escreve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F9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Desassistidos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lê e escreve: só 7 na base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IRMÃ ANTÔNIA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 · PDT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lê e escreve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F9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Desassistidos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lê e escreve: só 7 na base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NONATO CHEGADO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 · DC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lê e escreve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R$ 17,3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262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Batalhadores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lê e escreve: só 7 na base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SIDILENE SILVA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 · PV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lê e escreve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F9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Desassistidos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lê e escreve: só 7 na base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ANOMALIAS DENTRO DE CADA CLUSTER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Dentro de cada cluster, o atípico muda de natureza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76656" y="641908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591056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1719072" y="6419088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Descritiva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70632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2898648" y="6419088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de 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087368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4215384" y="641908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29784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5257800" y="6419088"/>
            <a:ext cx="612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6487668"/>
            <a:ext cx="91440" cy="91440"/>
          </a:xfrm>
          <a:prstGeom prst="ellipse">
            <a:avLst/>
          </a:prstGeom>
          <a:solidFill>
            <a:srgbClr val="2E7D5B"/>
          </a:solidFill>
          <a:ln w="63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6163056" y="6419088"/>
            <a:ext cx="818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Anomalias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146036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7274052" y="6419088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185855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132588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Atípicos dentro do próprio grupo:  </a:t>
            </a:r>
            <a:r>
              <a:rPr lang="en-US" sz="125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Prósperos 21 · Batalhadores 11 · Promissores 8 · Recém-chegados 5 · Desassistidos 4</a:t>
            </a:r>
            <a:endParaRPr lang="en-US" sz="125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3072384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65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Candidato (nome de urna)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Escolaridade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que destoa do próprio grupo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8B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Prósperos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SANDRA LACERDA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sup. incompleto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R$ 10,0 mi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superior incompleto num grupo de diplomados, com R$ 10,0 mi em bens (mediana do grupo: R$ 581 mil)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8B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Prósperos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ADRIANO COELHO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sup. completo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R$ 71,2 mi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patrimônio extremo mesmo para os Prósperos: R$ 71,2 mi, aos 37 anos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262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Batalhadores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LUIZ CLAUDIO DA AGRICULTURA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sup. incompleto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R$ 6,7 mil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quase sem bens (R$ 6,7 mil) num grupo com patrimônio mediano de R$ 240 mil, aos 66 anos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46B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Promissores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PROFESSOR ARQLEYDSSON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sup. completo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declarou bens (R$ 389) num grupo em que 98% declararam zero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BD4D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Recém-chegados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CLEVIANE MOREIRA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sup. incompleto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declarou bens (R$ 100) num grupo jovem em que 98% declararam zero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F9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Desassistidos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NIMOZ LOPES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fund. incompleto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anos num grupo com idade média de 52 (também atípico na base inteira)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F9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Desassistidos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ZÉ CARLOS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 completo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 anos e ensino médio completo: o mais velho e dos mais escolarizados do grupo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548640" y="4892040"/>
            <a:ext cx="2011680" cy="1325880"/>
          </a:xfrm>
          <a:prstGeom prst="roundRect">
            <a:avLst>
              <a:gd name="adj" fmla="val 5517"/>
            </a:avLst>
          </a:prstGeom>
          <a:solidFill>
            <a:srgbClr val="EEF5F1"/>
          </a:solidFill>
          <a:ln w="6350">
            <a:solidFill>
              <a:srgbClr val="EEF5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 txBox="1"/>
          <p:nvPr/>
        </p:nvSpPr>
        <p:spPr>
          <a:xfrm>
            <a:off x="685800" y="49834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685800" y="55778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atípicos nos dois olhares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2697480" y="4892040"/>
            <a:ext cx="2011680" cy="1325880"/>
          </a:xfrm>
          <a:prstGeom prst="roundRect">
            <a:avLst>
              <a:gd name="adj" fmla="val 5517"/>
            </a:avLst>
          </a:prstGeom>
          <a:solidFill>
            <a:srgbClr val="EEF5F1"/>
          </a:solidFill>
          <a:ln w="6350">
            <a:solidFill>
              <a:srgbClr val="EEF5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 txBox="1"/>
          <p:nvPr/>
        </p:nvSpPr>
        <p:spPr>
          <a:xfrm>
            <a:off x="2834640" y="49834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3000" dirty="0"/>
          </a:p>
        </p:txBody>
      </p:sp>
      <p:sp>
        <p:nvSpPr>
          <p:cNvPr id="26" name="Text 23"/>
          <p:cNvSpPr txBox="1"/>
          <p:nvPr/>
        </p:nvSpPr>
        <p:spPr>
          <a:xfrm>
            <a:off x="2834640" y="55778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na base inteira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846320" y="4892040"/>
            <a:ext cx="2011680" cy="1325880"/>
          </a:xfrm>
          <a:prstGeom prst="roundRect">
            <a:avLst>
              <a:gd name="adj" fmla="val 5517"/>
            </a:avLst>
          </a:prstGeom>
          <a:solidFill>
            <a:srgbClr val="FBE9E1"/>
          </a:solidFill>
          <a:ln w="6350">
            <a:solidFill>
              <a:srgbClr val="FBE9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 txBox="1"/>
          <p:nvPr/>
        </p:nvSpPr>
        <p:spPr>
          <a:xfrm>
            <a:off x="4983480" y="49834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45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3000" dirty="0"/>
          </a:p>
        </p:txBody>
      </p:sp>
      <p:sp>
        <p:nvSpPr>
          <p:cNvPr id="29" name="Text 26"/>
          <p:cNvSpPr txBox="1"/>
          <p:nvPr/>
        </p:nvSpPr>
        <p:spPr>
          <a:xfrm>
            <a:off x="4983480" y="55778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dentro do cluster</a:t>
            </a:r>
            <a:endParaRPr lang="en-US" sz="1150" dirty="0"/>
          </a:p>
        </p:txBody>
      </p:sp>
      <p:sp>
        <p:nvSpPr>
          <p:cNvPr id="20" name="Text 27"/>
          <p:cNvSpPr txBox="1"/>
          <p:nvPr/>
        </p:nvSpPr>
        <p:spPr>
          <a:xfrm>
            <a:off x="7132320" y="4892040"/>
            <a:ext cx="451073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Padronizando dentro de cada grupo, o Isolation Forest aponta quem destoa dos próprios pares. Os casos "só dentro do cluster" passariam despercebidos na visão global.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CONCLUSÕES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Respondendo às perguntas da análise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76656" y="641908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591056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1719072" y="6419088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Descritiva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70632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2898648" y="6419088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de 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087368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4215384" y="641908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29784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5257800" y="6419088"/>
            <a:ext cx="612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6487668"/>
            <a:ext cx="91440" cy="91440"/>
          </a:xfrm>
          <a:prstGeom prst="ellipse">
            <a:avLst/>
          </a:prstGeom>
          <a:solidFill>
            <a:srgbClr val="D6DFDA"/>
          </a:solidFill>
          <a:ln w="6350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6163056" y="6419088"/>
            <a:ext cx="818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Anomalias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146036" y="6487668"/>
            <a:ext cx="91440" cy="91440"/>
          </a:xfrm>
          <a:prstGeom prst="ellipse">
            <a:avLst/>
          </a:prstGeom>
          <a:solidFill>
            <a:srgbClr val="2E7D5B"/>
          </a:solidFill>
          <a:ln w="63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7274052" y="6419088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185855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1417320"/>
            <a:ext cx="5410048" cy="1600200"/>
          </a:xfrm>
          <a:prstGeom prst="roundRect">
            <a:avLst>
              <a:gd name="adj" fmla="val 5000"/>
            </a:avLst>
          </a:prstGeom>
          <a:solidFill>
            <a:srgbClr val="EEF5F1"/>
          </a:solidFill>
          <a:ln w="6350">
            <a:solidFill>
              <a:srgbClr val="EEF5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 txBox="1"/>
          <p:nvPr/>
        </p:nvSpPr>
        <p:spPr>
          <a:xfrm>
            <a:off x="749808" y="1545336"/>
            <a:ext cx="500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perfis encontramos?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50392" y="1897380"/>
            <a:ext cx="500771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1 - </a:t>
            </a:r>
            <a:r>
              <a:rPr lang="en-US" sz="1300" dirty="0" err="1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Prósperos</a:t>
            </a:r>
            <a:r>
              <a:rPr lang="en-US" sz="13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(45%), 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2 - </a:t>
            </a:r>
            <a:r>
              <a:rPr lang="en-US" sz="1300" dirty="0" err="1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Batalhadores</a:t>
            </a:r>
            <a:r>
              <a:rPr lang="en-US" sz="13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(22%), 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3 - </a:t>
            </a:r>
            <a:r>
              <a:rPr lang="en-US" sz="1300" dirty="0" err="1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Promissores</a:t>
            </a:r>
            <a:r>
              <a:rPr lang="en-US" sz="13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(16%),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  Recém-chegados (10%) e 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-</a:t>
            </a:r>
            <a:r>
              <a:rPr lang="en-US" sz="1300" dirty="0" err="1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Desassistidos</a:t>
            </a:r>
            <a:r>
              <a:rPr lang="en-US" sz="13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(7%).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33008" y="1417320"/>
            <a:ext cx="5410048" cy="1463040"/>
          </a:xfrm>
          <a:prstGeom prst="roundRect">
            <a:avLst>
              <a:gd name="adj" fmla="val 5000"/>
            </a:avLst>
          </a:prstGeom>
          <a:solidFill>
            <a:srgbClr val="F6F9F7"/>
          </a:solidFill>
          <a:ln w="6350">
            <a:solidFill>
              <a:srgbClr val="F6F9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 txBox="1"/>
          <p:nvPr/>
        </p:nvSpPr>
        <p:spPr>
          <a:xfrm>
            <a:off x="6434176" y="1545336"/>
            <a:ext cx="500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mais diferenciou os clusters?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434176" y="1920240"/>
            <a:ext cx="5007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1 - O patrimônio (declarou ou </a:t>
            </a:r>
            <a:r>
              <a:rPr lang="en-US" sz="1300" dirty="0" err="1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r>
              <a:rPr lang="en-US" sz="13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2 - a escolaridade; 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3 - a idade só separa os Recém-chegados, o grupo jovem.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3017520"/>
            <a:ext cx="5410048" cy="1705356"/>
          </a:xfrm>
          <a:prstGeom prst="roundRect">
            <a:avLst>
              <a:gd name="adj" fmla="val 5000"/>
            </a:avLst>
          </a:prstGeom>
          <a:solidFill>
            <a:srgbClr val="F6F9F7"/>
          </a:solidFill>
          <a:ln w="6350">
            <a:solidFill>
              <a:srgbClr val="F6F9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 txBox="1"/>
          <p:nvPr/>
        </p:nvSpPr>
        <p:spPr>
          <a:xfrm>
            <a:off x="749808" y="3145536"/>
            <a:ext cx="500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regras ajudaram a entender os perfis?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23976" y="3520440"/>
            <a:ext cx="53025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superior+ </a:t>
            </a:r>
            <a:r>
              <a:rPr lang="en-US" sz="1300" dirty="0" err="1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</a:t>
            </a:r>
            <a:r>
              <a:rPr lang="en-US" sz="13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Elevado → - </a:t>
            </a:r>
            <a:r>
              <a:rPr lang="en-US" sz="1300" dirty="0" err="1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Prósperos</a:t>
            </a:r>
            <a:r>
              <a:rPr lang="en-US" sz="13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 err="1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</a:t>
            </a:r>
            <a:r>
              <a:rPr lang="en-US" sz="13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300" dirty="0" err="1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ensino</a:t>
            </a:r>
            <a:r>
              <a:rPr lang="en-US" sz="13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r>
              <a:rPr lang="en-US" sz="13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bens </a:t>
            </a:r>
            <a:r>
              <a:rPr lang="en-US" sz="1300" dirty="0" err="1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intermediários</a:t>
            </a:r>
            <a:r>
              <a:rPr lang="en-US" sz="13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300" dirty="0" err="1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Batalhadores</a:t>
            </a:r>
            <a:r>
              <a:rPr lang="en-US" sz="13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 err="1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</a:t>
            </a:r>
            <a:r>
              <a:rPr lang="en-US" sz="13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superior + </a:t>
            </a:r>
            <a:r>
              <a:rPr lang="en-US" sz="1300" dirty="0" err="1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pouco</a:t>
            </a:r>
            <a:r>
              <a:rPr lang="en-US" sz="13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r>
              <a:rPr lang="en-US" sz="13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</a:t>
            </a:r>
            <a:r>
              <a:rPr lang="en-US" sz="13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</a:t>
            </a:r>
            <a:r>
              <a:rPr lang="en-US" sz="13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 </a:t>
            </a:r>
            <a:r>
              <a:rPr lang="en-US" sz="1300" dirty="0" err="1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Promissores</a:t>
            </a:r>
            <a:endParaRPr lang="en-US" sz="1300" dirty="0">
              <a:solidFill>
                <a:srgbClr val="17251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Jovem + </a:t>
            </a:r>
            <a:r>
              <a:rPr lang="en-US" sz="1300" dirty="0" err="1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</a:t>
            </a:r>
            <a:r>
              <a:rPr lang="en-US" sz="13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300" dirty="0" err="1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ensino</a:t>
            </a:r>
            <a:r>
              <a:rPr lang="en-US" sz="13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r>
              <a:rPr lang="en-US" sz="13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300" dirty="0" err="1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Recém-chegados</a:t>
            </a:r>
            <a:r>
              <a:rPr lang="en-US" sz="13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 err="1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Pouca</a:t>
            </a:r>
            <a:r>
              <a:rPr lang="en-US" sz="13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escolaridade</a:t>
            </a:r>
            <a:r>
              <a:rPr lang="en-US" sz="13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1300" dirty="0" err="1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</a:t>
            </a:r>
            <a:r>
              <a:rPr lang="en-US" sz="13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patrimonio</a:t>
            </a:r>
            <a:r>
              <a:rPr lang="en-US" sz="13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</a:t>
            </a:r>
            <a:r>
              <a:rPr lang="en-US" sz="1300" dirty="0" err="1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Desasssistido</a:t>
            </a:r>
            <a:r>
              <a:rPr lang="en-US" sz="13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33008" y="3017520"/>
            <a:ext cx="5410048" cy="1463040"/>
          </a:xfrm>
          <a:prstGeom prst="roundRect">
            <a:avLst>
              <a:gd name="adj" fmla="val 5000"/>
            </a:avLst>
          </a:prstGeom>
          <a:solidFill>
            <a:srgbClr val="EEF5F1"/>
          </a:solidFill>
          <a:ln w="6350">
            <a:solidFill>
              <a:srgbClr val="EEF5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 txBox="1"/>
          <p:nvPr/>
        </p:nvSpPr>
        <p:spPr>
          <a:xfrm>
            <a:off x="6434176" y="3145536"/>
            <a:ext cx="500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anomalias chamaram atenção?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434176" y="3520440"/>
            <a:ext cx="5007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base, a baixa escolaridade (41 dos 47 atípicos); dentro dos grupos, quem destoa dos pares — como a Próspera com R$ 10,0 mi e superior incompleto.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" y="4617720"/>
            <a:ext cx="5410048" cy="1463040"/>
          </a:xfrm>
          <a:prstGeom prst="roundRect">
            <a:avLst>
              <a:gd name="adj" fmla="val 5000"/>
            </a:avLst>
          </a:prstGeom>
          <a:solidFill>
            <a:srgbClr val="F6F9F7"/>
          </a:solidFill>
          <a:ln w="6350">
            <a:solidFill>
              <a:srgbClr val="F6F9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 txBox="1"/>
          <p:nvPr/>
        </p:nvSpPr>
        <p:spPr>
          <a:xfrm>
            <a:off x="749808" y="4745736"/>
            <a:ext cx="500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confirmou percepções?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49808" y="5120640"/>
            <a:ext cx="5007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30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e diploma andam com o mandato: 28 dos 35 candidatos à deputados são Prósperos, o grupo mais branco (43%); os Batalhadores são os mais masculinos (69%).</a:t>
            </a:r>
            <a:endParaRPr lang="pt-BR" sz="1300"/>
          </a:p>
        </p:txBody>
      </p:sp>
      <p:sp>
        <p:nvSpPr>
          <p:cNvPr id="34" name="Shape 32"/>
          <p:cNvSpPr/>
          <p:nvPr/>
        </p:nvSpPr>
        <p:spPr>
          <a:xfrm>
            <a:off x="6233008" y="4617720"/>
            <a:ext cx="5410048" cy="1463040"/>
          </a:xfrm>
          <a:prstGeom prst="roundRect">
            <a:avLst>
              <a:gd name="adj" fmla="val 5000"/>
            </a:avLst>
          </a:prstGeom>
          <a:solidFill>
            <a:srgbClr val="F6F9F7"/>
          </a:solidFill>
          <a:ln w="6350">
            <a:solidFill>
              <a:srgbClr val="F6F9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 txBox="1"/>
          <p:nvPr/>
        </p:nvSpPr>
        <p:spPr>
          <a:xfrm>
            <a:off x="6434176" y="4745736"/>
            <a:ext cx="500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foi inesperado?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434176" y="5120640"/>
            <a:ext cx="5007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 declararam patrimônio zero — entre eles, 98% dos Promissores, um grupo de diplomados e o único de maioria feminina; e o gasto tem correlação de só 0,36 com o patrimônio.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E3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A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CONCLUSÕES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Confirmado, inesperado e a principal contribuição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45738" cy="3611880"/>
          </a:xfrm>
          <a:prstGeom prst="roundRect">
            <a:avLst>
              <a:gd name="adj" fmla="val 2063"/>
            </a:avLst>
          </a:prstGeom>
          <a:solidFill>
            <a:srgbClr val="165944"/>
          </a:solidFill>
          <a:ln w="6350">
            <a:solidFill>
              <a:srgbClr val="1659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Confirmou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308853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400" dirty="0">
                <a:solidFill>
                  <a:srgbClr val="E6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Escolaridade e patrimônio são os eixos que separam os candidatos.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400" dirty="0">
                <a:solidFill>
                  <a:srgbClr val="E6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nomes dos clusters batem com as regras de associação, nas duas direções.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400" dirty="0">
                <a:solidFill>
                  <a:srgbClr val="E6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perfis fazem sentido fora do modelo: ocupação, partido e estado civil.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22978" y="1691640"/>
            <a:ext cx="3545738" cy="3611880"/>
          </a:xfrm>
          <a:prstGeom prst="roundRect">
            <a:avLst>
              <a:gd name="adj" fmla="val 2063"/>
            </a:avLst>
          </a:prstGeom>
          <a:solidFill>
            <a:srgbClr val="165944"/>
          </a:solidFill>
          <a:ln w="6350">
            <a:solidFill>
              <a:srgbClr val="1659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4551578" y="1828800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Surpreendeu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51578" y="2331720"/>
            <a:ext cx="308853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400" dirty="0">
                <a:solidFill>
                  <a:srgbClr val="E6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idade quase não separa: só os Recém-chegados destoam.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400" dirty="0">
                <a:solidFill>
                  <a:srgbClr val="E6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Promissores (diploma sem bens) são o único grupo de maioria feminina.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400" dirty="0">
                <a:solidFill>
                  <a:srgbClr val="E6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candidatos são atípicos só dentro do próprio grupo.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97317" y="1691640"/>
            <a:ext cx="3545738" cy="3611880"/>
          </a:xfrm>
          <a:prstGeom prst="roundRect">
            <a:avLst>
              <a:gd name="adj" fmla="val 2063"/>
            </a:avLst>
          </a:prstGeom>
          <a:solidFill>
            <a:srgbClr val="165944"/>
          </a:solidFill>
          <a:ln w="6350">
            <a:solidFill>
              <a:srgbClr val="1659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8325917" y="1828800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325917" y="2331720"/>
            <a:ext cx="308853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400" dirty="0">
                <a:solidFill>
                  <a:srgbClr val="E6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Bens declarados ≠ patrimônio real: zero pode ser omissão.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400" dirty="0">
                <a:solidFill>
                  <a:srgbClr val="E6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Despesas parciais: a campanha ainda estava em curso (extrato de 20/09).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400" dirty="0">
                <a:solidFill>
                  <a:srgbClr val="E6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da eleição ainda não existe: vale repetir com os eleitos.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4864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contribuição: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dados abertos do TSE, uma segmentação socioeconômica interpretável dos 925 candidatos do Norte, validada por regras de associação e com uma lista de casos atípicos para olhar com atenção.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185855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A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E3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5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APÊNDICE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Decisões metodológicas (para as perguntas)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322072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5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fizemos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quê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Deputado Federal nos 7 estados do Norte (925 candidatos).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E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Molde do professor estendido para uma lista de UFs.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Idade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 data da eleição; excluídas 2 idades abaixo de 21 anos.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E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Idade mínima constitucional para o cargo.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 de estudo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Grau de instrução convertido em anos equivalentes (1 a 16).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E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código do TSE é ordinal; anos de estudo é intervalar.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Bens e despesas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Soma por candidato; ausência = 0; log1p.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E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Muitos zeros e cauda longa; o log mantém o zero.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Despesas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Despesas contratadas (não as pagas).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E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o arquivo de contratadas traz SQ_CANDIDATO para a junção.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MinMax (0 a 1) nas 3 variáveis da clusterização.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E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variável pesa igual na distância.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Bisecting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Divide o grupo de maior inércia média; semente 42.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E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Evita que o critério vire "dividir sempre o maior grupo".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5.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E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Silhueta (pico local), critério do Bisecting e interpretação.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Apriori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 3: suporte ≥ 2%; desafio: faixas por quartil e suporte ≥ 3%; lift ≥ 1.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E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Suporte mínimo evita lift inflado por grupos minúsculos.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Isolation Forest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contamination = 0,05 (global); por cluster, máx(5%, 2 candidatos), padronizando dentro do grupo.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E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Global: raro na base; local: raro entre os pares.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APÊNDICE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Sugestão de divisão das falas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576218" cy="3017520"/>
          </a:xfrm>
          <a:prstGeom prst="roundRect">
            <a:avLst>
              <a:gd name="adj" fmla="val 2424"/>
            </a:avLst>
          </a:prstGeom>
          <a:solidFill>
            <a:srgbClr val="EEF5F1"/>
          </a:solidFill>
          <a:ln w="6350">
            <a:solidFill>
              <a:srgbClr val="EEF5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731520" y="1691640"/>
            <a:ext cx="32104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Integrante 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48840"/>
            <a:ext cx="32104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 a 13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60320"/>
            <a:ext cx="32104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Abertura, objetivo, dados do TSE, análise descritiva das 4 variáveis e a escolha de K (K-Means, Bisecting, resultados por k e a defesa do k = 5).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07738" y="1554480"/>
            <a:ext cx="3576218" cy="3017520"/>
          </a:xfrm>
          <a:prstGeom prst="roundRect">
            <a:avLst>
              <a:gd name="adj" fmla="val 2424"/>
            </a:avLst>
          </a:prstGeom>
          <a:solidFill>
            <a:srgbClr val="F6F9F7"/>
          </a:solidFill>
          <a:ln w="6350">
            <a:solidFill>
              <a:srgbClr val="F6F9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4490618" y="1691640"/>
            <a:ext cx="32104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Integrante 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490618" y="2148840"/>
            <a:ext cx="32104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14 a 25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490618" y="2560320"/>
            <a:ext cx="32104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5 clusters, o desafio das despesas, a caracterização (sexo, cor/raça, profissão, partido e UF), os nomes e as regras de associação.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66837" y="1554480"/>
            <a:ext cx="3576218" cy="3017520"/>
          </a:xfrm>
          <a:prstGeom prst="roundRect">
            <a:avLst>
              <a:gd name="adj" fmla="val 2424"/>
            </a:avLst>
          </a:prstGeom>
          <a:solidFill>
            <a:srgbClr val="EEF5F1"/>
          </a:solidFill>
          <a:ln w="6350">
            <a:solidFill>
              <a:srgbClr val="EEF5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8249717" y="1691640"/>
            <a:ext cx="32104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Integrante 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249717" y="2148840"/>
            <a:ext cx="32104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26 a 32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49717" y="2560320"/>
            <a:ext cx="32104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(como funciona, contaminação, anomalias na base e dentro de cada cluster) e as conclusões.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8463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devem conhecer a justificativa do K, a leitura das regras (suporte, confiança e lift) e a escolha da contaminação: o professor pode perguntar qualquer etapa a qualquer integrante.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APÊNDICE · FIGURAS DOS NOTEBOOKS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Versões 1 e 2: clusters nas variáveis naturais (k = 5)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21208" y="1344168"/>
            <a:ext cx="5510632" cy="2314064"/>
          </a:xfrm>
          <a:prstGeom prst="rect">
            <a:avLst/>
          </a:prstGeom>
          <a:solidFill>
            <a:srgbClr val="FFFFFF"/>
          </a:solidFill>
          <a:ln w="9525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/home/claude/work/proj/Imagens/image2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5455768" cy="2259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3676520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02_clusterizacao · image2_2 — Versão 1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6159856" y="1344168"/>
            <a:ext cx="5510632" cy="2314064"/>
          </a:xfrm>
          <a:prstGeom prst="rect">
            <a:avLst/>
          </a:prstGeom>
          <a:solidFill>
            <a:srgbClr val="FFFFFF"/>
          </a:solidFill>
          <a:ln w="9525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" name="Image 1" descr="/home/claude/work/proj/Imagens/image2_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7288" y="1371600"/>
            <a:ext cx="5455768" cy="2259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187288" y="3676520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02_clusterizacao · image2_6 — Versão 2</a:t>
            </a:r>
            <a:endParaRPr lang="en-US" sz="85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Nomes do K-Means (partição alternativa): a Versão 2 divide os prósperos por idade (Prósperos × Jovens Herdeiros) e não isola o grupo de baixa escolaridade.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APÊNDICE · FIGURAS DOS NOTEBOOKS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Versão 2: perfis nos radares e desvio da média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21208" y="1344168"/>
            <a:ext cx="6638544" cy="4398236"/>
          </a:xfrm>
          <a:prstGeom prst="rect">
            <a:avLst/>
          </a:prstGeom>
          <a:solidFill>
            <a:srgbClr val="FFFFFF"/>
          </a:solidFill>
          <a:ln w="9525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/home/claude/work/proj/Imagens/image2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6583680" cy="43433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760692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02_clusterizacao · image2_5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196611" y="1344168"/>
            <a:ext cx="256503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" name="Image 1" descr="/home/claude/work/proj/Imagens/image2_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4043" y="1371600"/>
            <a:ext cx="2510170" cy="209397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224043" y="3511296"/>
            <a:ext cx="25101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02_clusterizacao · image2_4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8121305" y="3813048"/>
            <a:ext cx="2715646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Image 2" descr="/home/claude/work/proj/Imagens/image2_1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8737" y="3840480"/>
            <a:ext cx="2660782" cy="204825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148737" y="5934456"/>
            <a:ext cx="26607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02_clusterizacao · image2_13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APÊNDICE · FIGURAS DOS NOTEBOOKS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Versão 2: composição demográfica (nos dois sentidos)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21208" y="1344168"/>
            <a:ext cx="5510632" cy="40459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/home/claude/work/proj/Imagens/image2_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5455768" cy="39911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408452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02_clusterizacao · image2_8 — dentro de cada cluster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6159856" y="1344168"/>
            <a:ext cx="5510632" cy="40459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" name="Image 1" descr="/home/claude/work/proj/Imagens/image2_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7288" y="1371600"/>
            <a:ext cx="5455768" cy="39911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187288" y="5408452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02_clusterizacao · image2_12 — entre os clusters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APÊNDICE · FIGURAS DOS NOTEBOOKS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Versão 2: gênero, cor/raça e estado civil em cada cluster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103574" y="1298448"/>
            <a:ext cx="5984547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/home/claude/work/proj/Imagens/image2_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006" y="1325880"/>
            <a:ext cx="5929683" cy="1362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131006" y="2734056"/>
            <a:ext cx="592968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02_clusterizacao · image2_9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021894" y="2916936"/>
            <a:ext cx="614790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" name="Image 1" descr="/home/claude/work/proj/Imagens/image2_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9326" y="2944368"/>
            <a:ext cx="6093044" cy="13624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049326" y="4352544"/>
            <a:ext cx="60930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02_clusterizacao · image2_10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2619390" y="4535424"/>
            <a:ext cx="6952916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Image 2" descr="/home/claude/work/proj/Imagens/image2_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6822" y="4562856"/>
            <a:ext cx="6898052" cy="136245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646822" y="5971032"/>
            <a:ext cx="68980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02_clusterizacao · image2_11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APÊNDICE · FIGURAS DOS NOTEBOOKS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Bisecting K-Means: radares de k = 4 e composição entre os clusters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21208" y="1344168"/>
            <a:ext cx="5510632" cy="3604976"/>
          </a:xfrm>
          <a:prstGeom prst="rect">
            <a:avLst/>
          </a:prstGeom>
          <a:solidFill>
            <a:srgbClr val="FFFFFF"/>
          </a:solidFill>
          <a:ln w="9525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/home/claude/work/proj/Imagens/image2_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5455768" cy="35501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4967432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02_clusterizacao · image2_20 — k = 4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6159856" y="1344168"/>
            <a:ext cx="5510632" cy="40459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" name="Image 1" descr="/home/claude/work/proj/Imagens/image2_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7288" y="1371600"/>
            <a:ext cx="5455768" cy="39911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187288" y="5408452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02_clusterizacao · image2_26 — distribuição entre os clusters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APÊNDICE · FIGURAS DOS NOTEBOOKS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Bisecting K-Means: UF de candidatura dentro de cada cluster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21208" y="1435608"/>
            <a:ext cx="11149279" cy="2457823"/>
          </a:xfrm>
          <a:prstGeom prst="rect">
            <a:avLst/>
          </a:prstGeom>
          <a:solidFill>
            <a:srgbClr val="FFFFFF"/>
          </a:solidFill>
          <a:ln w="9525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/home/claude/work/proj/Imagens/image2_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11094415" cy="240295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3911719"/>
            <a:ext cx="110944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02_clusterizacao · image2_27</a:t>
            </a:r>
            <a:endParaRPr lang="en-US" sz="8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APÊNDICE · FIGURAS DOS NOTEBOOKS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Grafo das regras da Fase 3: o que prediz o cluster (notebook 03)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64113" y="1344168"/>
            <a:ext cx="10263469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/home/claude/work/proj/Imagens/grafo_regras_clu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977" y="1344168"/>
            <a:ext cx="10208605" cy="44256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91545" y="5843016"/>
            <a:ext cx="1020860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grafo_regras_cluster.html (notebook 03)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arquivo .html abre no navegador, com zoom e confiança, lift e nº de candidatos de cada regra ao passar o mouse.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APÊNDICE · FIGURAS DOS NOTEBOOKS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Grafo das regras da Fase 3: o que caracteriza cada cluster (notebook 03)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64113" y="1344168"/>
            <a:ext cx="10263469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/home/claude/work/proj/Imagens/grafo_regras_antecedente_fix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545" y="1371600"/>
            <a:ext cx="10208605" cy="44256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91545" y="5843016"/>
            <a:ext cx="1020860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8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grafo_regras_antecedente_fixo.html (notebook 03)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arquivo .html abre no navegador, com zoom e confiança, lift e nº de candidatos de cada regra ao passar o mouse.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adiente Escuro">
  <a:themeElements>
    <a:clrScheme name="Gradiente Escuro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301</TotalTime>
  <Words>8544</Words>
  <Application>Microsoft Office PowerPoint</Application>
  <PresentationFormat>Ecrã Panorâmico</PresentationFormat>
  <Paragraphs>1229</Paragraphs>
  <Slides>41</Slides>
  <Notes>41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41</vt:i4>
      </vt:variant>
    </vt:vector>
  </HeadingPairs>
  <TitlesOfParts>
    <vt:vector size="47" baseType="lpstr">
      <vt:lpstr>Arial</vt:lpstr>
      <vt:lpstr>Arial Nova Light</vt:lpstr>
      <vt:lpstr>Calibri</vt:lpstr>
      <vt:lpstr>Cambria</vt:lpstr>
      <vt:lpstr>Courier New</vt:lpstr>
      <vt:lpstr>Gradiente Escuro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Mineração de Dados Eleitorais 2026 — Deputados Federais da Região Norte</dc:title>
  <dc:subject>Mineração de Dados Eleitorais 2026 — Deputados Federais, Região Norte</dc:subject>
  <dc:creator>Grupo Região Norte</dc:creator>
  <cp:lastModifiedBy>Patricia Lima</cp:lastModifiedBy>
  <cp:revision>6</cp:revision>
  <dcterms:created xsi:type="dcterms:W3CDTF">2026-09-27T21:19:54Z</dcterms:created>
  <dcterms:modified xsi:type="dcterms:W3CDTF">2026-10-12T21:48:27Z</dcterms:modified>
</cp:coreProperties>
</file>